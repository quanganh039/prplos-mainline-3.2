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theme/theme8.xml" ContentType="application/vnd.openxmlformats-officedocument.theme+xml"/>
  <Override PartName="/ppt/slideLayouts/slideLayout10.xml" ContentType="application/vnd.openxmlformats-officedocument.presentationml.slideLayout+xml"/>
  <Override PartName="/ppt/theme/theme9.xml" ContentType="application/vnd.openxmlformats-officedocument.theme+xml"/>
  <Override PartName="/ppt/slideLayouts/slideLayout11.xml" ContentType="application/vnd.openxmlformats-officedocument.presentationml.slideLayout+xml"/>
  <Override PartName="/ppt/theme/theme10.xml" ContentType="application/vnd.openxmlformats-officedocument.theme+xml"/>
  <Override PartName="/ppt/slideLayouts/slideLayout12.xml" ContentType="application/vnd.openxmlformats-officedocument.presentationml.slideLayout+xml"/>
  <Override PartName="/ppt/theme/theme11.xml" ContentType="application/vnd.openxmlformats-officedocument.theme+xml"/>
  <Override PartName="/ppt/slideLayouts/slideLayout13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22" r:id="rId1"/>
    <p:sldMasterId id="2147483833" r:id="rId2"/>
    <p:sldMasterId id="2147483848" r:id="rId3"/>
    <p:sldMasterId id="2147483810" r:id="rId4"/>
    <p:sldMasterId id="2147483850" r:id="rId5"/>
    <p:sldMasterId id="2147483839" r:id="rId6"/>
    <p:sldMasterId id="2147483835" r:id="rId7"/>
    <p:sldMasterId id="2147483837" r:id="rId8"/>
    <p:sldMasterId id="2147483841" r:id="rId9"/>
    <p:sldMasterId id="2147483806" r:id="rId10"/>
    <p:sldMasterId id="2147483824" r:id="rId11"/>
    <p:sldMasterId id="2147483843" r:id="rId12"/>
  </p:sldMasterIdLst>
  <p:notesMasterIdLst>
    <p:notesMasterId r:id="rId32"/>
  </p:notesMasterIdLst>
  <p:handoutMasterIdLst>
    <p:handoutMasterId r:id="rId33"/>
  </p:handoutMasterIdLst>
  <p:sldIdLst>
    <p:sldId id="597" r:id="rId13"/>
    <p:sldId id="888" r:id="rId14"/>
    <p:sldId id="887" r:id="rId15"/>
    <p:sldId id="862" r:id="rId16"/>
    <p:sldId id="863" r:id="rId17"/>
    <p:sldId id="864" r:id="rId18"/>
    <p:sldId id="865" r:id="rId19"/>
    <p:sldId id="866" r:id="rId20"/>
    <p:sldId id="867" r:id="rId21"/>
    <p:sldId id="881" r:id="rId22"/>
    <p:sldId id="871" r:id="rId23"/>
    <p:sldId id="877" r:id="rId24"/>
    <p:sldId id="868" r:id="rId25"/>
    <p:sldId id="882" r:id="rId26"/>
    <p:sldId id="869" r:id="rId27"/>
    <p:sldId id="889" r:id="rId28"/>
    <p:sldId id="870" r:id="rId29"/>
    <p:sldId id="876" r:id="rId30"/>
    <p:sldId id="706" r:id="rId31"/>
  </p:sldIdLst>
  <p:sldSz cx="12192000" cy="6840538"/>
  <p:notesSz cx="6797675" cy="9926638"/>
  <p:defaultTextStyle>
    <a:defPPr>
      <a:defRPr lang="ko-KR"/>
    </a:defPPr>
    <a:lvl1pPr marL="0" algn="l" defTabSz="1063112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31556" algn="l" defTabSz="1063112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63112" algn="l" defTabSz="1063112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94667" algn="l" defTabSz="1063112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126220" algn="l" defTabSz="1063112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657778" algn="l" defTabSz="1063112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189333" algn="l" defTabSz="1063112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720888" algn="l" defTabSz="1063112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252443" algn="l" defTabSz="1063112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3" orient="horz" pos="2200" userDrawn="1">
          <p15:clr>
            <a:srgbClr val="A4A3A4"/>
          </p15:clr>
        </p15:guide>
        <p15:guide id="17" orient="horz" userDrawn="1">
          <p15:clr>
            <a:srgbClr val="A4A3A4"/>
          </p15:clr>
        </p15:guide>
        <p15:guide id="21" orient="horz" pos="522" userDrawn="1">
          <p15:clr>
            <a:srgbClr val="A4A3A4"/>
          </p15:clr>
        </p15:guide>
        <p15:guide id="22" pos="2797" userDrawn="1">
          <p15:clr>
            <a:srgbClr val="A4A3A4"/>
          </p15:clr>
        </p15:guide>
        <p15:guide id="23" pos="4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8A3B"/>
    <a:srgbClr val="417391"/>
    <a:srgbClr val="039FED"/>
    <a:srgbClr val="4785D1"/>
    <a:srgbClr val="D46D06"/>
    <a:srgbClr val="038ED3"/>
    <a:srgbClr val="DAA600"/>
    <a:srgbClr val="338381"/>
    <a:srgbClr val="7EA51B"/>
    <a:srgbClr val="BDE45A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97" autoAdjust="0"/>
    <p:restoredTop sz="82377" autoAdjust="0"/>
  </p:normalViewPr>
  <p:slideViewPr>
    <p:cSldViewPr>
      <p:cViewPr varScale="1">
        <p:scale>
          <a:sx n="206" d="100"/>
          <a:sy n="206" d="100"/>
        </p:scale>
        <p:origin x="2892" y="180"/>
      </p:cViewPr>
      <p:guideLst>
        <p:guide orient="horz" pos="2200"/>
        <p:guide orient="horz"/>
        <p:guide orient="horz" pos="522"/>
        <p:guide pos="2797"/>
        <p:guide pos="43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2" d="100"/>
          <a:sy n="92" d="100"/>
        </p:scale>
        <p:origin x="354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21" Type="http://schemas.openxmlformats.org/officeDocument/2006/relationships/slide" Target="slides/slide9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slide" Target="slides/slide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056"/>
          </a:xfrm>
          <a:prstGeom prst="rect">
            <a:avLst/>
          </a:prstGeom>
        </p:spPr>
        <p:txBody>
          <a:bodyPr vert="horz" lIns="91425" tIns="45712" rIns="91425" bIns="4571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5" y="1"/>
            <a:ext cx="2945659" cy="498056"/>
          </a:xfrm>
          <a:prstGeom prst="rect">
            <a:avLst/>
          </a:prstGeom>
        </p:spPr>
        <p:txBody>
          <a:bodyPr vert="horz" lIns="91425" tIns="45712" rIns="91425" bIns="45712" rtlCol="0"/>
          <a:lstStyle>
            <a:lvl1pPr algn="r">
              <a:defRPr sz="1200"/>
            </a:lvl1pPr>
          </a:lstStyle>
          <a:p>
            <a:fld id="{3CC36593-AD2E-4344-8ED0-E9B9AA674A49}" type="datetimeFigureOut">
              <a:rPr lang="ko-KR" altLang="en-US" smtClean="0"/>
              <a:t>2024-12-27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28586"/>
            <a:ext cx="2945659" cy="498055"/>
          </a:xfrm>
          <a:prstGeom prst="rect">
            <a:avLst/>
          </a:prstGeom>
        </p:spPr>
        <p:txBody>
          <a:bodyPr vert="horz" lIns="91425" tIns="45712" rIns="91425" bIns="4571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5" y="9428586"/>
            <a:ext cx="2945659" cy="498055"/>
          </a:xfrm>
          <a:prstGeom prst="rect">
            <a:avLst/>
          </a:prstGeom>
        </p:spPr>
        <p:txBody>
          <a:bodyPr vert="horz" lIns="91425" tIns="45712" rIns="91425" bIns="45712" rtlCol="0" anchor="b"/>
          <a:lstStyle>
            <a:lvl1pPr algn="r">
              <a:defRPr sz="1200"/>
            </a:lvl1pPr>
          </a:lstStyle>
          <a:p>
            <a:fld id="{48B0254A-3351-4151-AB77-89AE84B096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74526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056"/>
          </a:xfrm>
          <a:prstGeom prst="rect">
            <a:avLst/>
          </a:prstGeom>
        </p:spPr>
        <p:txBody>
          <a:bodyPr vert="horz" lIns="91425" tIns="45712" rIns="91425" bIns="4571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5" y="1"/>
            <a:ext cx="2945659" cy="498056"/>
          </a:xfrm>
          <a:prstGeom prst="rect">
            <a:avLst/>
          </a:prstGeom>
        </p:spPr>
        <p:txBody>
          <a:bodyPr vert="horz" lIns="91425" tIns="45712" rIns="91425" bIns="45712" rtlCol="0"/>
          <a:lstStyle>
            <a:lvl1pPr algn="r">
              <a:defRPr sz="1200"/>
            </a:lvl1pPr>
          </a:lstStyle>
          <a:p>
            <a:fld id="{E604BDC2-7131-4C56-8196-BD1B4A3056DA}" type="datetimeFigureOut">
              <a:rPr lang="ko-KR" altLang="en-US" smtClean="0"/>
              <a:t>2024-12-27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5925" y="1241425"/>
            <a:ext cx="5965825" cy="3348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5" tIns="45712" rIns="91425" bIns="4571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9" y="4777196"/>
            <a:ext cx="5438140" cy="3908613"/>
          </a:xfrm>
          <a:prstGeom prst="rect">
            <a:avLst/>
          </a:prstGeom>
        </p:spPr>
        <p:txBody>
          <a:bodyPr vert="horz" lIns="91425" tIns="45712" rIns="91425" bIns="45712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945659" cy="498055"/>
          </a:xfrm>
          <a:prstGeom prst="rect">
            <a:avLst/>
          </a:prstGeom>
        </p:spPr>
        <p:txBody>
          <a:bodyPr vert="horz" lIns="91425" tIns="45712" rIns="91425" bIns="4571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5" y="9428586"/>
            <a:ext cx="2945659" cy="498055"/>
          </a:xfrm>
          <a:prstGeom prst="rect">
            <a:avLst/>
          </a:prstGeom>
        </p:spPr>
        <p:txBody>
          <a:bodyPr vert="horz" lIns="91425" tIns="45712" rIns="91425" bIns="45712" rtlCol="0" anchor="b"/>
          <a:lstStyle>
            <a:lvl1pPr algn="r">
              <a:defRPr sz="1200"/>
            </a:lvl1pPr>
          </a:lstStyle>
          <a:p>
            <a:fld id="{28906177-0A55-4DE6-A1AC-1E59B5F1A3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64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63112" rtl="0" eaLnBrk="1" latinLnBrk="1" hangingPunct="1">
      <a:defRPr sz="1399" kern="1200">
        <a:solidFill>
          <a:schemeClr val="tx1"/>
        </a:solidFill>
        <a:latin typeface="+mn-lt"/>
        <a:ea typeface="+mn-ea"/>
        <a:cs typeface="+mn-cs"/>
      </a:defRPr>
    </a:lvl1pPr>
    <a:lvl2pPr marL="531556" algn="l" defTabSz="1063112" rtl="0" eaLnBrk="1" latinLnBrk="1" hangingPunct="1">
      <a:defRPr sz="1399" kern="1200">
        <a:solidFill>
          <a:schemeClr val="tx1"/>
        </a:solidFill>
        <a:latin typeface="+mn-lt"/>
        <a:ea typeface="+mn-ea"/>
        <a:cs typeface="+mn-cs"/>
      </a:defRPr>
    </a:lvl2pPr>
    <a:lvl3pPr marL="1063112" algn="l" defTabSz="1063112" rtl="0" eaLnBrk="1" latinLnBrk="1" hangingPunct="1">
      <a:defRPr sz="1399" kern="1200">
        <a:solidFill>
          <a:schemeClr val="tx1"/>
        </a:solidFill>
        <a:latin typeface="+mn-lt"/>
        <a:ea typeface="+mn-ea"/>
        <a:cs typeface="+mn-cs"/>
      </a:defRPr>
    </a:lvl3pPr>
    <a:lvl4pPr marL="1594667" algn="l" defTabSz="1063112" rtl="0" eaLnBrk="1" latinLnBrk="1" hangingPunct="1">
      <a:defRPr sz="1399" kern="1200">
        <a:solidFill>
          <a:schemeClr val="tx1"/>
        </a:solidFill>
        <a:latin typeface="+mn-lt"/>
        <a:ea typeface="+mn-ea"/>
        <a:cs typeface="+mn-cs"/>
      </a:defRPr>
    </a:lvl4pPr>
    <a:lvl5pPr marL="2126220" algn="l" defTabSz="1063112" rtl="0" eaLnBrk="1" latinLnBrk="1" hangingPunct="1">
      <a:defRPr sz="1399" kern="1200">
        <a:solidFill>
          <a:schemeClr val="tx1"/>
        </a:solidFill>
        <a:latin typeface="+mn-lt"/>
        <a:ea typeface="+mn-ea"/>
        <a:cs typeface="+mn-cs"/>
      </a:defRPr>
    </a:lvl5pPr>
    <a:lvl6pPr marL="2657778" algn="l" defTabSz="1063112" rtl="0" eaLnBrk="1" latinLnBrk="1" hangingPunct="1">
      <a:defRPr sz="1399" kern="1200">
        <a:solidFill>
          <a:schemeClr val="tx1"/>
        </a:solidFill>
        <a:latin typeface="+mn-lt"/>
        <a:ea typeface="+mn-ea"/>
        <a:cs typeface="+mn-cs"/>
      </a:defRPr>
    </a:lvl6pPr>
    <a:lvl7pPr marL="3189333" algn="l" defTabSz="1063112" rtl="0" eaLnBrk="1" latinLnBrk="1" hangingPunct="1">
      <a:defRPr sz="1399" kern="1200">
        <a:solidFill>
          <a:schemeClr val="tx1"/>
        </a:solidFill>
        <a:latin typeface="+mn-lt"/>
        <a:ea typeface="+mn-ea"/>
        <a:cs typeface="+mn-cs"/>
      </a:defRPr>
    </a:lvl7pPr>
    <a:lvl8pPr marL="3720888" algn="l" defTabSz="1063112" rtl="0" eaLnBrk="1" latinLnBrk="1" hangingPunct="1">
      <a:defRPr sz="1399" kern="1200">
        <a:solidFill>
          <a:schemeClr val="tx1"/>
        </a:solidFill>
        <a:latin typeface="+mn-lt"/>
        <a:ea typeface="+mn-ea"/>
        <a:cs typeface="+mn-cs"/>
      </a:defRPr>
    </a:lvl8pPr>
    <a:lvl9pPr marL="4252443" algn="l" defTabSz="1063112" rtl="0" eaLnBrk="1" latinLnBrk="1" hangingPunct="1">
      <a:defRPr sz="13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906177-0A55-4DE6-A1AC-1E59B5F1A36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2228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906177-0A55-4DE6-A1AC-1E59B5F1A36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4913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99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following is a common usage model for the exception levels:</a:t>
            </a:r>
          </a:p>
          <a:p>
            <a:r>
              <a:rPr lang="en-US" b="1" dirty="0" smtClean="0">
                <a:effectLst/>
              </a:rPr>
              <a:t>EL0</a:t>
            </a:r>
            <a:r>
              <a:rPr lang="en-US" sz="1399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Applications.</a:t>
            </a:r>
          </a:p>
          <a:p>
            <a:r>
              <a:rPr lang="en-US" b="1" dirty="0" smtClean="0">
                <a:effectLst/>
              </a:rPr>
              <a:t>EL1</a:t>
            </a:r>
            <a:r>
              <a:rPr lang="en-US" sz="1399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 kernels and associated functions that are typically described as privileged.</a:t>
            </a:r>
          </a:p>
          <a:p>
            <a:r>
              <a:rPr lang="en-US" b="1" dirty="0" smtClean="0">
                <a:effectLst/>
              </a:rPr>
              <a:t>EL2</a:t>
            </a:r>
            <a:r>
              <a:rPr lang="en-US" sz="1399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Hypervisor.</a:t>
            </a:r>
          </a:p>
          <a:p>
            <a:r>
              <a:rPr lang="en-US" b="1" dirty="0" smtClean="0">
                <a:effectLst/>
              </a:rPr>
              <a:t>EL3</a:t>
            </a:r>
            <a:r>
              <a:rPr lang="en-US" sz="1399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Secure monitor.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906177-0A55-4DE6-A1AC-1E59B5F1A36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18550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906177-0A55-4DE6-A1AC-1E59B5F1A36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6736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906177-0A55-4DE6-A1AC-1E59B5F1A36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1130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906177-0A55-4DE6-A1AC-1E59B5F1A36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750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906177-0A55-4DE6-A1AC-1E59B5F1A36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9494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906177-0A55-4DE6-A1AC-1E59B5F1A36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0640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906177-0A55-4DE6-A1AC-1E59B5F1A36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04148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906177-0A55-4DE6-A1AC-1E59B5F1A36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1233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906177-0A55-4DE6-A1AC-1E59B5F1A36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18255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906177-0A55-4DE6-A1AC-1E59B5F1A36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5377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906177-0A55-4DE6-A1AC-1E59B5F1A36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689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906177-0A55-4DE6-A1AC-1E59B5F1A36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6323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906177-0A55-4DE6-A1AC-1E59B5F1A36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8505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906177-0A55-4DE6-A1AC-1E59B5F1A36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40794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906177-0A55-4DE6-A1AC-1E59B5F1A36B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379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5044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6797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7232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640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3430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1968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9227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478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7237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9065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9833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6646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4848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png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2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80" y="0"/>
            <a:ext cx="12216680" cy="6840538"/>
          </a:xfrm>
          <a:prstGeom prst="rect">
            <a:avLst/>
          </a:prstGeom>
        </p:spPr>
      </p:pic>
      <p:sp>
        <p:nvSpPr>
          <p:cNvPr id="11" name="직사각형 10"/>
          <p:cNvSpPr/>
          <p:nvPr userDrawn="1"/>
        </p:nvSpPr>
        <p:spPr>
          <a:xfrm>
            <a:off x="-24680" y="0"/>
            <a:ext cx="12214701" cy="6858000"/>
          </a:xfrm>
          <a:prstGeom prst="rect">
            <a:avLst/>
          </a:prstGeom>
          <a:gradFill flip="none" rotWithShape="1">
            <a:gsLst>
              <a:gs pos="85000">
                <a:schemeClr val="tx2">
                  <a:lumMod val="27000"/>
                  <a:alpha val="77000"/>
                </a:schemeClr>
              </a:gs>
              <a:gs pos="13000">
                <a:schemeClr val="bg1">
                  <a:alpha val="69000"/>
                </a:schemeClr>
              </a:gs>
              <a:gs pos="61000">
                <a:srgbClr val="002060">
                  <a:alpha val="38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7" name="직선 연결선 16"/>
          <p:cNvCxnSpPr/>
          <p:nvPr userDrawn="1"/>
        </p:nvCxnSpPr>
        <p:spPr>
          <a:xfrm>
            <a:off x="369020" y="6436676"/>
            <a:ext cx="114046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hape 32"/>
          <p:cNvSpPr/>
          <p:nvPr userDrawn="1"/>
        </p:nvSpPr>
        <p:spPr>
          <a:xfrm>
            <a:off x="393700" y="6546445"/>
            <a:ext cx="4519122" cy="133755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>
            <a:lvl1pPr algn="r" defTabSz="914400">
              <a:defRPr sz="13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pPr>
            <a:r>
              <a:rPr kumimoji="0" sz="86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  <a:sym typeface="Calibri"/>
              </a:rPr>
              <a:t>Copyright ⓒ </a:t>
            </a:r>
            <a:r>
              <a:rPr kumimoji="0" sz="869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  <a:sym typeface="Calibri"/>
              </a:rPr>
              <a:t>20</a:t>
            </a:r>
            <a:r>
              <a:rPr kumimoji="0" lang="en-US" sz="869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  <a:sym typeface="Calibri"/>
              </a:rPr>
              <a:t>23</a:t>
            </a:r>
            <a:r>
              <a:rPr kumimoji="0" sz="869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  <a:sym typeface="Calibri"/>
              </a:rPr>
              <a:t> K</a:t>
            </a:r>
            <a:r>
              <a:rPr kumimoji="0" lang="en-US" sz="869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  <a:sym typeface="Calibri"/>
              </a:rPr>
              <a:t>AON BROADBAND</a:t>
            </a:r>
            <a:r>
              <a:rPr kumimoji="0" sz="869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  <a:sym typeface="Calibri"/>
              </a:rPr>
              <a:t> </a:t>
            </a:r>
            <a:r>
              <a:rPr kumimoji="0" sz="86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  <a:sym typeface="Calibri"/>
              </a:rPr>
              <a:t>Co., Ltd. All rights reserved  |  </a:t>
            </a:r>
            <a:r>
              <a:rPr kumimoji="0" sz="869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  <a:sym typeface="Calibri"/>
              </a:rPr>
              <a:t>Confidential</a:t>
            </a:r>
            <a:endParaRPr kumimoji="0" sz="869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Arial" panose="020B0604020202020204" pitchFamily="34" charset="0"/>
              <a:sym typeface="Calibri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112" y="702087"/>
            <a:ext cx="5389187" cy="528107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 userDrawn="1"/>
        </p:nvPicPr>
        <p:blipFill rotWithShape="1">
          <a:blip r:embed="rId5"/>
          <a:srcRect/>
          <a:stretch/>
        </p:blipFill>
        <p:spPr>
          <a:xfrm>
            <a:off x="287020" y="5986811"/>
            <a:ext cx="2966720" cy="44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742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</p:sldLayoutIdLst>
  <p:txStyles>
    <p:titleStyle>
      <a:lvl1pPr algn="l" defTabSz="1216122" rtl="0" eaLnBrk="1" latinLnBrk="1" hangingPunct="1">
        <a:spcBef>
          <a:spcPct val="0"/>
        </a:spcBef>
        <a:buNone/>
        <a:defRPr sz="3724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456046" indent="-456046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608061" indent="0" algn="l" defTabSz="1216122" rtl="0" eaLnBrk="1" latinLnBrk="1" hangingPunct="1">
        <a:spcBef>
          <a:spcPct val="20000"/>
        </a:spcBef>
        <a:buFont typeface="Arial" pitchFamily="34" charset="0"/>
        <a:buNone/>
        <a:defRPr sz="2128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216122" indent="0" algn="l" defTabSz="1216122" rtl="0" eaLnBrk="1" latinLnBrk="1" hangingPunct="1">
        <a:spcBef>
          <a:spcPct val="20000"/>
        </a:spcBef>
        <a:buFont typeface="Arial" pitchFamily="34" charset="0"/>
        <a:buNone/>
        <a:defRPr sz="1596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824182" indent="0" algn="l" defTabSz="1216122" rtl="0" eaLnBrk="1" latinLnBrk="1" hangingPunct="1">
        <a:spcBef>
          <a:spcPct val="20000"/>
        </a:spcBef>
        <a:buFont typeface="Arial" pitchFamily="34" charset="0"/>
        <a:buNone/>
        <a:defRPr sz="1397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736273" indent="-304030" algn="l" defTabSz="1216122" rtl="0" eaLnBrk="1" latinLnBrk="1" hangingPunct="1">
        <a:spcBef>
          <a:spcPct val="20000"/>
        </a:spcBef>
        <a:buFont typeface="Arial" pitchFamily="34" charset="0"/>
        <a:buChar char="»"/>
        <a:defRPr sz="2660" kern="1200">
          <a:solidFill>
            <a:schemeClr val="tx1"/>
          </a:solidFill>
          <a:latin typeface="+mn-lt"/>
          <a:ea typeface="+mn-ea"/>
          <a:cs typeface="+mn-cs"/>
        </a:defRPr>
      </a:lvl5pPr>
      <a:lvl6pPr marL="3344334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6pPr>
      <a:lvl7pPr marL="3952395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7pPr>
      <a:lvl8pPr marL="4560456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8pPr>
      <a:lvl9pPr marL="5168516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1pPr>
      <a:lvl2pPr marL="608061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1216122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3pPr>
      <a:lvl4pPr marL="1824182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4pPr>
      <a:lvl5pPr marL="2432243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5pPr>
      <a:lvl6pPr marL="3040304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6pPr>
      <a:lvl7pPr marL="3648365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7pPr>
      <a:lvl8pPr marL="4256425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8pPr>
      <a:lvl9pPr marL="4864486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4112" y="0"/>
            <a:ext cx="5087888" cy="6862910"/>
          </a:xfrm>
          <a:prstGeom prst="rect">
            <a:avLst/>
          </a:prstGeom>
        </p:spPr>
      </p:pic>
      <p:sp>
        <p:nvSpPr>
          <p:cNvPr id="4" name="직사각형 3"/>
          <p:cNvSpPr/>
          <p:nvPr userDrawn="1"/>
        </p:nvSpPr>
        <p:spPr>
          <a:xfrm>
            <a:off x="393700" y="379005"/>
            <a:ext cx="208280" cy="55232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416" y="42510"/>
            <a:ext cx="2176089" cy="870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139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</p:sldLayoutIdLst>
  <p:txStyles>
    <p:titleStyle>
      <a:lvl1pPr algn="l" defTabSz="1216122" rtl="0" eaLnBrk="1" latinLnBrk="1" hangingPunct="1">
        <a:spcBef>
          <a:spcPct val="0"/>
        </a:spcBef>
        <a:buNone/>
        <a:defRPr sz="3724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456046" indent="-456046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608061" indent="0" algn="l" defTabSz="1216122" rtl="0" eaLnBrk="1" latinLnBrk="1" hangingPunct="1">
        <a:spcBef>
          <a:spcPct val="20000"/>
        </a:spcBef>
        <a:buFont typeface="Arial" pitchFamily="34" charset="0"/>
        <a:buNone/>
        <a:defRPr sz="2128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216122" indent="0" algn="l" defTabSz="1216122" rtl="0" eaLnBrk="1" latinLnBrk="1" hangingPunct="1">
        <a:spcBef>
          <a:spcPct val="20000"/>
        </a:spcBef>
        <a:buFont typeface="Arial" pitchFamily="34" charset="0"/>
        <a:buNone/>
        <a:defRPr sz="1596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824182" indent="0" algn="l" defTabSz="1216122" rtl="0" eaLnBrk="1" latinLnBrk="1" hangingPunct="1">
        <a:spcBef>
          <a:spcPct val="20000"/>
        </a:spcBef>
        <a:buFont typeface="Arial" pitchFamily="34" charset="0"/>
        <a:buNone/>
        <a:defRPr sz="1397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736273" indent="-304030" algn="l" defTabSz="1216122" rtl="0" eaLnBrk="1" latinLnBrk="1" hangingPunct="1">
        <a:spcBef>
          <a:spcPct val="20000"/>
        </a:spcBef>
        <a:buFont typeface="Arial" pitchFamily="34" charset="0"/>
        <a:buChar char="»"/>
        <a:defRPr sz="2660" kern="1200">
          <a:solidFill>
            <a:schemeClr val="tx1"/>
          </a:solidFill>
          <a:latin typeface="+mn-lt"/>
          <a:ea typeface="+mn-ea"/>
          <a:cs typeface="+mn-cs"/>
        </a:defRPr>
      </a:lvl5pPr>
      <a:lvl6pPr marL="3344334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6pPr>
      <a:lvl7pPr marL="3952395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7pPr>
      <a:lvl8pPr marL="4560456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8pPr>
      <a:lvl9pPr marL="5168516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1pPr>
      <a:lvl2pPr marL="608061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1216122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3pPr>
      <a:lvl4pPr marL="1824182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4pPr>
      <a:lvl5pPr marL="2432243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5pPr>
      <a:lvl6pPr marL="3040304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6pPr>
      <a:lvl7pPr marL="3648365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7pPr>
      <a:lvl8pPr marL="4256425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8pPr>
      <a:lvl9pPr marL="4864486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 userDrawn="1"/>
        </p:nvGrpSpPr>
        <p:grpSpPr>
          <a:xfrm>
            <a:off x="0" y="0"/>
            <a:ext cx="12192000" cy="6858000"/>
            <a:chOff x="6362700" y="3230880"/>
            <a:chExt cx="12192000" cy="6858000"/>
          </a:xfrm>
        </p:grpSpPr>
        <p:cxnSp>
          <p:nvCxnSpPr>
            <p:cNvPr id="8" name="직선 연결선 7"/>
            <p:cNvCxnSpPr/>
            <p:nvPr/>
          </p:nvCxnSpPr>
          <p:spPr>
            <a:xfrm>
              <a:off x="6931660" y="9515856"/>
              <a:ext cx="10749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그룹 8"/>
            <p:cNvGrpSpPr/>
            <p:nvPr/>
          </p:nvGrpSpPr>
          <p:grpSpPr>
            <a:xfrm>
              <a:off x="6604000" y="3482906"/>
              <a:ext cx="11404600" cy="6275774"/>
              <a:chOff x="393700" y="404426"/>
              <a:chExt cx="11404600" cy="6275774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601980" y="404426"/>
                <a:ext cx="657098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32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UIT ExtraBold" pitchFamily="2" charset="-127"/>
                    <a:cs typeface="Arial" panose="020B0604020202020204" pitchFamily="34" charset="0"/>
                  </a:rPr>
                  <a:t>TABLE OF CONTENTS</a:t>
                </a:r>
                <a:endParaRPr kumimoji="0" lang="ko-KR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SUIT ExtraBold" pitchFamily="2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2" name="직사각형 11"/>
              <p:cNvSpPr/>
              <p:nvPr/>
            </p:nvSpPr>
            <p:spPr>
              <a:xfrm>
                <a:off x="4168140" y="1378108"/>
                <a:ext cx="7630160" cy="4671060"/>
              </a:xfrm>
              <a:prstGeom prst="rect">
                <a:avLst/>
              </a:prstGeom>
              <a:solidFill>
                <a:schemeClr val="bg1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4312920" y="1378108"/>
                <a:ext cx="7485380" cy="4478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marR="0" lvl="0" indent="-457200" algn="l" defTabSz="914400" rtl="0" eaLnBrk="1" fontAlgn="auto" latinLnBrk="1" hangingPunct="1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eriod"/>
                  <a:tabLst/>
                  <a:defRPr/>
                </a:pPr>
                <a:r>
                  <a:rPr kumimoji="0" lang="en-US" altLang="ko-KR" sz="1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  <a:t>Company Introduction</a:t>
                </a:r>
                <a:r>
                  <a:rPr kumimoji="0" lang="en-US" altLang="ko-KR" sz="1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  <a:t/>
                </a:r>
                <a:br>
                  <a:rPr kumimoji="0" lang="en-US" altLang="ko-KR" sz="1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</a:br>
                <a:r>
                  <a:rPr kumimoji="0" lang="en-US" altLang="ko-KR" sz="1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  <a:t>1.1 Company Information</a:t>
                </a:r>
                <a:br>
                  <a:rPr kumimoji="0" lang="en-US" altLang="ko-KR" sz="1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</a:br>
                <a:r>
                  <a:rPr kumimoji="0" lang="en-US" altLang="ko-KR" sz="1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  <a:t>1.2 Business Scope</a:t>
                </a:r>
                <a:r>
                  <a:rPr kumimoji="0" lang="en-US" altLang="ko-KR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  <a:t/>
                </a:r>
                <a:br>
                  <a:rPr kumimoji="0" lang="en-US" altLang="ko-KR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</a:br>
                <a:r>
                  <a:rPr kumimoji="0" lang="en-US" altLang="ko-KR" sz="1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  <a:t>1.3 History</a:t>
                </a:r>
                <a:br>
                  <a:rPr kumimoji="0" lang="en-US" altLang="ko-KR" sz="1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</a:br>
                <a:r>
                  <a:rPr kumimoji="0" lang="en-US" altLang="ko-KR" sz="1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  <a:t>1.4 Our Global Customers / Global Customers &amp; Partners</a:t>
                </a:r>
                <a:br>
                  <a:rPr kumimoji="0" lang="en-US" altLang="ko-KR" sz="1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</a:br>
                <a:r>
                  <a:rPr kumimoji="0" lang="en-US" altLang="ko-KR" sz="1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  <a:t>1.5 Global Presence / Global Operation / Service Network</a:t>
                </a:r>
              </a:p>
              <a:p>
                <a:pPr marL="457200" marR="0" lvl="0" indent="-457200" algn="l" defTabSz="914400" rtl="0" eaLnBrk="1" fontAlgn="auto" latinLnBrk="1" hangingPunct="1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eriod"/>
                  <a:tabLst/>
                  <a:defRPr/>
                </a:pPr>
                <a:endParaRPr kumimoji="0" lang="en-US" altLang="ko-KR" sz="12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 panose="020B0604020202020204" pitchFamily="50" charset="-127"/>
                  <a:cs typeface="Arial" panose="020B0604020202020204" pitchFamily="34" charset="0"/>
                </a:endParaRPr>
              </a:p>
              <a:p>
                <a:pPr marL="457200" marR="0" lvl="0" indent="-45720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eriod"/>
                  <a:tabLst/>
                  <a:defRPr/>
                </a:pPr>
                <a:r>
                  <a:rPr kumimoji="0" lang="en-US" altLang="ko-KR" sz="1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  <a:t>Product </a:t>
                </a:r>
                <a:r>
                  <a:rPr kumimoji="0" lang="en-US" altLang="ko-KR" sz="1800" b="1" i="0" u="none" strike="noStrike" kern="1200" cap="none" spc="0" normalizeH="0" baseline="0" noProof="0" dirty="0" err="1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  <a:t>Porfolio</a:t>
                </a:r>
                <a:r>
                  <a:rPr kumimoji="0" lang="en-US" altLang="ko-KR" sz="12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  <a:t/>
                </a:r>
                <a:br>
                  <a:rPr kumimoji="0" lang="en-US" altLang="ko-KR" sz="12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</a:br>
                <a:r>
                  <a:rPr kumimoji="0" lang="en-US" altLang="ko-KR" sz="1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  <a:t>- KAON Video Solution Leadership</a:t>
                </a:r>
                <a:br>
                  <a:rPr kumimoji="0" lang="en-US" altLang="ko-KR" sz="1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</a:br>
                <a:r>
                  <a:rPr kumimoji="0" lang="en-US" altLang="ko-KR" sz="1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  <a:t>- KAON Video Solution</a:t>
                </a:r>
                <a:br>
                  <a:rPr kumimoji="0" lang="en-US" altLang="ko-KR" sz="1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</a:br>
                <a:r>
                  <a:rPr kumimoji="0" lang="en-US" altLang="ko-KR" sz="11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  <a:t>(Evolvement / Portfolio / Voice Assistant / Android TV &amp; OTT / Linux(Benjamin) / RDK-V / KRMS)</a:t>
                </a:r>
              </a:p>
              <a:p>
                <a:pPr marL="457200" marR="0" lvl="0" indent="-45720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eriod"/>
                  <a:tabLst/>
                  <a:defRPr/>
                </a:pPr>
                <a:endParaRPr kumimoji="0" lang="en-US" altLang="ko-KR" sz="11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 panose="020B0604020202020204" pitchFamily="50" charset="-127"/>
                  <a:cs typeface="Arial" panose="020B0604020202020204" pitchFamily="34" charset="0"/>
                </a:endParaRPr>
              </a:p>
              <a:p>
                <a:pPr marL="457200" marR="0" lvl="0" indent="-45720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eriod"/>
                  <a:tabLst/>
                  <a:defRPr/>
                </a:pPr>
                <a:r>
                  <a:rPr kumimoji="0" lang="en-US" altLang="ko-KR" sz="1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  <a:t>Sustainability</a:t>
                </a:r>
                <a:r>
                  <a:rPr kumimoji="0" lang="en-US" altLang="ko-KR" sz="11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  <a:t/>
                </a:r>
                <a:br>
                  <a:rPr kumimoji="0" lang="en-US" altLang="ko-KR" sz="11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</a:br>
                <a:r>
                  <a:rPr kumimoji="0" lang="en-US" altLang="ko-KR" sz="1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  <a:t>- Kaon Sustainability (ESG) / Green Management / Eco-Design / Eco-impact / CSR / Certifications</a:t>
                </a:r>
                <a:endPara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 panose="020B0604020202020204" pitchFamily="50" charset="-127"/>
                  <a:cs typeface="Arial" panose="020B0604020202020204" pitchFamily="34" charset="0"/>
                </a:endParaRPr>
              </a:p>
            </p:txBody>
          </p:sp>
          <p:cxnSp>
            <p:nvCxnSpPr>
              <p:cNvPr id="14" name="직선 연결선 13"/>
              <p:cNvCxnSpPr/>
              <p:nvPr/>
            </p:nvCxnSpPr>
            <p:spPr>
              <a:xfrm>
                <a:off x="393700" y="989900"/>
                <a:ext cx="11404600" cy="0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직선 연결선 14"/>
              <p:cNvCxnSpPr/>
              <p:nvPr/>
            </p:nvCxnSpPr>
            <p:spPr>
              <a:xfrm>
                <a:off x="393700" y="6436676"/>
                <a:ext cx="11404600" cy="0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Shape 32"/>
              <p:cNvSpPr/>
              <p:nvPr/>
            </p:nvSpPr>
            <p:spPr>
              <a:xfrm>
                <a:off x="393700" y="6541701"/>
                <a:ext cx="3754813" cy="138499"/>
              </a:xfrm>
              <a:prstGeom prst="rect">
                <a:avLst/>
              </a:prstGeom>
              <a:noFill/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0" tIns="0" rIns="0" bIns="0" anchor="b">
                <a:spAutoFit/>
              </a:bodyPr>
              <a:lstStyle>
                <a:lvl1pPr algn="r" defTabSz="914400">
                  <a:defRPr sz="1300"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800"/>
                </a:pPr>
                <a:r>
                  <a:rPr kumimoji="0" sz="869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맑은 고딕"/>
                    <a:cs typeface="Arial" panose="020B0604020202020204" pitchFamily="34" charset="0"/>
                    <a:sym typeface="Calibri"/>
                  </a:rPr>
                  <a:t>Copyright ⓒ </a:t>
                </a:r>
                <a:r>
                  <a:rPr kumimoji="0" sz="869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맑은 고딕"/>
                    <a:cs typeface="Arial" panose="020B0604020202020204" pitchFamily="34" charset="0"/>
                    <a:sym typeface="Calibri"/>
                  </a:rPr>
                  <a:t>20</a:t>
                </a:r>
                <a:r>
                  <a:rPr kumimoji="0" lang="en-US" sz="869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맑은 고딕"/>
                    <a:cs typeface="Arial" panose="020B0604020202020204" pitchFamily="34" charset="0"/>
                    <a:sym typeface="Calibri"/>
                  </a:rPr>
                  <a:t>22</a:t>
                </a:r>
                <a:r>
                  <a:rPr kumimoji="0" sz="869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맑은 고딕"/>
                    <a:cs typeface="Arial" panose="020B0604020202020204" pitchFamily="34" charset="0"/>
                    <a:sym typeface="Calibri"/>
                  </a:rPr>
                  <a:t> K</a:t>
                </a:r>
                <a:r>
                  <a:rPr kumimoji="0" lang="en-US" sz="869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맑은 고딕"/>
                    <a:cs typeface="Arial" panose="020B0604020202020204" pitchFamily="34" charset="0"/>
                    <a:sym typeface="Calibri"/>
                  </a:rPr>
                  <a:t>AONMEDIA</a:t>
                </a:r>
                <a:r>
                  <a:rPr kumimoji="0" sz="869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맑은 고딕"/>
                    <a:cs typeface="Arial" panose="020B0604020202020204" pitchFamily="34" charset="0"/>
                    <a:sym typeface="Calibri"/>
                  </a:rPr>
                  <a:t> </a:t>
                </a:r>
                <a:r>
                  <a:rPr kumimoji="0" sz="869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맑은 고딕"/>
                    <a:cs typeface="Arial" panose="020B0604020202020204" pitchFamily="34" charset="0"/>
                    <a:sym typeface="Calibri"/>
                  </a:rPr>
                  <a:t>Co., Ltd. All rights reserved  |  </a:t>
                </a:r>
                <a:r>
                  <a:rPr kumimoji="0" sz="869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맑은 고딕"/>
                    <a:cs typeface="Arial" panose="020B0604020202020204" pitchFamily="34" charset="0"/>
                    <a:sym typeface="Calibri"/>
                  </a:rPr>
                  <a:t>Confidential</a:t>
                </a:r>
                <a:endParaRPr kumimoji="0" sz="869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/>
                  <a:cs typeface="Arial" panose="020B0604020202020204" pitchFamily="34" charset="0"/>
                  <a:sym typeface="Calibri"/>
                </a:endParaRPr>
              </a:p>
            </p:txBody>
          </p:sp>
          <p:sp>
            <p:nvSpPr>
              <p:cNvPr id="17" name="직사각형 16"/>
              <p:cNvSpPr/>
              <p:nvPr/>
            </p:nvSpPr>
            <p:spPr>
              <a:xfrm>
                <a:off x="4122420" y="1377408"/>
                <a:ext cx="45719" cy="4671759"/>
              </a:xfrm>
              <a:prstGeom prst="rect">
                <a:avLst/>
              </a:prstGeom>
              <a:solidFill>
                <a:srgbClr val="F582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8" name="직사각형 17"/>
              <p:cNvSpPr/>
              <p:nvPr/>
            </p:nvSpPr>
            <p:spPr>
              <a:xfrm>
                <a:off x="393700" y="436880"/>
                <a:ext cx="208280" cy="552321"/>
              </a:xfrm>
              <a:prstGeom prst="rect">
                <a:avLst/>
              </a:prstGeom>
              <a:solidFill>
                <a:srgbClr val="F582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pic>
          <p:nvPicPr>
            <p:cNvPr id="10" name="그림 9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362700" y="3230880"/>
              <a:ext cx="12192000" cy="6858000"/>
            </a:xfrm>
            <a:prstGeom prst="rect">
              <a:avLst/>
            </a:prstGeom>
          </p:spPr>
        </p:pic>
      </p:grpSp>
      <p:sp>
        <p:nvSpPr>
          <p:cNvPr id="19" name="직사각형 18"/>
          <p:cNvSpPr/>
          <p:nvPr userDrawn="1"/>
        </p:nvSpPr>
        <p:spPr>
          <a:xfrm>
            <a:off x="0" y="0"/>
            <a:ext cx="12192012" cy="6858000"/>
          </a:xfrm>
          <a:prstGeom prst="rect">
            <a:avLst/>
          </a:prstGeom>
          <a:solidFill>
            <a:schemeClr val="bg1"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51" dirty="0"/>
          </a:p>
        </p:txBody>
      </p:sp>
      <p:cxnSp>
        <p:nvCxnSpPr>
          <p:cNvPr id="21" name="직선 연결선 20"/>
          <p:cNvCxnSpPr/>
          <p:nvPr userDrawn="1"/>
        </p:nvCxnSpPr>
        <p:spPr>
          <a:xfrm>
            <a:off x="393700" y="6436676"/>
            <a:ext cx="114046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hape 32"/>
          <p:cNvSpPr/>
          <p:nvPr userDrawn="1"/>
        </p:nvSpPr>
        <p:spPr>
          <a:xfrm>
            <a:off x="393700" y="6541702"/>
            <a:ext cx="4768504" cy="137798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b">
            <a:spAutoFit/>
          </a:bodyPr>
          <a:lstStyle>
            <a:lvl1pPr algn="r" defTabSz="914400">
              <a:defRPr sz="13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pPr>
            <a:r>
              <a:rPr kumimoji="0" lang="en-US" altLang="ko-KR" sz="869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  <a:sym typeface="Calibri"/>
              </a:rPr>
              <a:t>Copyright ⓒ </a:t>
            </a:r>
            <a:r>
              <a:rPr kumimoji="0" lang="en-US" altLang="ko-KR" sz="869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  <a:sym typeface="Calibri"/>
              </a:rPr>
              <a:t>2023 </a:t>
            </a:r>
            <a:r>
              <a:rPr kumimoji="0" lang="en-US" altLang="ko-KR" sz="869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  <a:sym typeface="Calibri"/>
              </a:rPr>
              <a:t>KAON BROADBAND Co., Ltd. All rights reserved  |  Confidential</a:t>
            </a:r>
          </a:p>
        </p:txBody>
      </p:sp>
      <p:pic>
        <p:nvPicPr>
          <p:cNvPr id="23" name="그림 22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81720" y="6004281"/>
            <a:ext cx="3237230" cy="398697"/>
          </a:xfrm>
          <a:prstGeom prst="rect">
            <a:avLst/>
          </a:prstGeom>
        </p:spPr>
      </p:pic>
      <p:sp>
        <p:nvSpPr>
          <p:cNvPr id="24" name="직사각형 23"/>
          <p:cNvSpPr/>
          <p:nvPr userDrawn="1"/>
        </p:nvSpPr>
        <p:spPr>
          <a:xfrm>
            <a:off x="393700" y="4212875"/>
            <a:ext cx="198119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9181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4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688" y="0"/>
            <a:ext cx="12288688" cy="6840538"/>
          </a:xfrm>
          <a:prstGeom prst="rect">
            <a:avLst/>
          </a:prstGeom>
        </p:spPr>
      </p:pic>
      <p:sp>
        <p:nvSpPr>
          <p:cNvPr id="8" name="직사각형 7"/>
          <p:cNvSpPr/>
          <p:nvPr userDrawn="1"/>
        </p:nvSpPr>
        <p:spPr>
          <a:xfrm>
            <a:off x="-96688" y="0"/>
            <a:ext cx="12288688" cy="6846863"/>
          </a:xfrm>
          <a:prstGeom prst="rect">
            <a:avLst/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51" dirty="0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393700" y="6436676"/>
            <a:ext cx="114046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hape 32"/>
          <p:cNvSpPr/>
          <p:nvPr userDrawn="1"/>
        </p:nvSpPr>
        <p:spPr>
          <a:xfrm>
            <a:off x="393700" y="6541702"/>
            <a:ext cx="4768504" cy="137798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b">
            <a:spAutoFit/>
          </a:bodyPr>
          <a:lstStyle>
            <a:lvl1pPr algn="r" defTabSz="914400">
              <a:defRPr sz="13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pPr>
            <a:r>
              <a:rPr kumimoji="0" lang="en-US" altLang="ko-KR" sz="869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  <a:sym typeface="Calibri"/>
              </a:rPr>
              <a:t>Copyright ⓒ </a:t>
            </a:r>
            <a:r>
              <a:rPr kumimoji="0" lang="en-US" altLang="ko-KR" sz="869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  <a:sym typeface="Calibri"/>
              </a:rPr>
              <a:t>2023 </a:t>
            </a:r>
            <a:r>
              <a:rPr kumimoji="0" lang="en-US" altLang="ko-KR" sz="869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  <a:sym typeface="Calibri"/>
              </a:rPr>
              <a:t>KAON BROADBAND Co., Ltd. All rights reserved  |  Confidential</a:t>
            </a: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81720" y="6004281"/>
            <a:ext cx="3237230" cy="398697"/>
          </a:xfrm>
          <a:prstGeom prst="rect">
            <a:avLst/>
          </a:prstGeom>
        </p:spPr>
      </p:pic>
      <p:sp>
        <p:nvSpPr>
          <p:cNvPr id="12" name="직사각형 11"/>
          <p:cNvSpPr/>
          <p:nvPr userDrawn="1"/>
        </p:nvSpPr>
        <p:spPr>
          <a:xfrm>
            <a:off x="393700" y="4212875"/>
            <a:ext cx="198119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5524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</p:sldLayoutIdLst>
  <p:txStyles>
    <p:titleStyle>
      <a:lvl1pPr algn="l" defTabSz="1216122" rtl="0" eaLnBrk="1" latinLnBrk="1" hangingPunct="1">
        <a:spcBef>
          <a:spcPct val="0"/>
        </a:spcBef>
        <a:buNone/>
        <a:defRPr sz="3724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456046" indent="-456046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608061" indent="0" algn="l" defTabSz="1216122" rtl="0" eaLnBrk="1" latinLnBrk="1" hangingPunct="1">
        <a:spcBef>
          <a:spcPct val="20000"/>
        </a:spcBef>
        <a:buFont typeface="Arial" pitchFamily="34" charset="0"/>
        <a:buNone/>
        <a:defRPr sz="2128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216122" indent="0" algn="l" defTabSz="1216122" rtl="0" eaLnBrk="1" latinLnBrk="1" hangingPunct="1">
        <a:spcBef>
          <a:spcPct val="20000"/>
        </a:spcBef>
        <a:buFont typeface="Arial" pitchFamily="34" charset="0"/>
        <a:buNone/>
        <a:defRPr sz="1596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824182" indent="0" algn="l" defTabSz="1216122" rtl="0" eaLnBrk="1" latinLnBrk="1" hangingPunct="1">
        <a:spcBef>
          <a:spcPct val="20000"/>
        </a:spcBef>
        <a:buFont typeface="Arial" pitchFamily="34" charset="0"/>
        <a:buNone/>
        <a:defRPr sz="1397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736273" indent="-304030" algn="l" defTabSz="1216122" rtl="0" eaLnBrk="1" latinLnBrk="1" hangingPunct="1">
        <a:spcBef>
          <a:spcPct val="20000"/>
        </a:spcBef>
        <a:buFont typeface="Arial" pitchFamily="34" charset="0"/>
        <a:buChar char="»"/>
        <a:defRPr sz="2660" kern="1200">
          <a:solidFill>
            <a:schemeClr val="tx1"/>
          </a:solidFill>
          <a:latin typeface="+mn-lt"/>
          <a:ea typeface="+mn-ea"/>
          <a:cs typeface="+mn-cs"/>
        </a:defRPr>
      </a:lvl5pPr>
      <a:lvl6pPr marL="3344334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6pPr>
      <a:lvl7pPr marL="3952395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7pPr>
      <a:lvl8pPr marL="4560456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8pPr>
      <a:lvl9pPr marL="5168516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1pPr>
      <a:lvl2pPr marL="608061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1216122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3pPr>
      <a:lvl4pPr marL="1824182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4pPr>
      <a:lvl5pPr marL="2432243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5pPr>
      <a:lvl6pPr marL="3040304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6pPr>
      <a:lvl7pPr marL="3648365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7pPr>
      <a:lvl8pPr marL="4256425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8pPr>
      <a:lvl9pPr marL="4864486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8" y="0"/>
            <a:ext cx="12191112" cy="6840538"/>
          </a:xfrm>
          <a:prstGeom prst="rect">
            <a:avLst/>
          </a:prstGeom>
        </p:spPr>
      </p:pic>
      <p:sp>
        <p:nvSpPr>
          <p:cNvPr id="8" name="직사각형 7"/>
          <p:cNvSpPr/>
          <p:nvPr userDrawn="1"/>
        </p:nvSpPr>
        <p:spPr>
          <a:xfrm>
            <a:off x="888" y="0"/>
            <a:ext cx="12191112" cy="6840538"/>
          </a:xfrm>
          <a:prstGeom prst="rect">
            <a:avLst/>
          </a:prstGeom>
          <a:solidFill>
            <a:srgbClr val="E1F0FF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51" dirty="0"/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393700" y="6436676"/>
            <a:ext cx="114046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hape 32"/>
          <p:cNvSpPr/>
          <p:nvPr userDrawn="1"/>
        </p:nvSpPr>
        <p:spPr>
          <a:xfrm>
            <a:off x="393700" y="6541702"/>
            <a:ext cx="4768504" cy="137798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b">
            <a:spAutoFit/>
          </a:bodyPr>
          <a:lstStyle>
            <a:lvl1pPr algn="r" defTabSz="914400">
              <a:defRPr sz="13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pPr>
            <a:r>
              <a:rPr kumimoji="0" lang="en-US" altLang="ko-KR" sz="869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  <a:sym typeface="Calibri"/>
              </a:rPr>
              <a:t>Copyright ⓒ </a:t>
            </a:r>
            <a:r>
              <a:rPr kumimoji="0" lang="en-US" altLang="ko-KR" sz="869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  <a:sym typeface="Calibri"/>
              </a:rPr>
              <a:t>2023 </a:t>
            </a:r>
            <a:r>
              <a:rPr kumimoji="0" lang="en-US" altLang="ko-KR" sz="869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  <a:sym typeface="Calibri"/>
              </a:rPr>
              <a:t>KAON BROADBAND Co., Ltd. All rights reserved  |  Confidential</a:t>
            </a: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81720" y="6004281"/>
            <a:ext cx="3237230" cy="398697"/>
          </a:xfrm>
          <a:prstGeom prst="rect">
            <a:avLst/>
          </a:prstGeom>
        </p:spPr>
      </p:pic>
      <p:sp>
        <p:nvSpPr>
          <p:cNvPr id="14" name="직사각형 13"/>
          <p:cNvSpPr/>
          <p:nvPr userDrawn="1"/>
        </p:nvSpPr>
        <p:spPr>
          <a:xfrm>
            <a:off x="393700" y="4212875"/>
            <a:ext cx="198119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4066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</p:sldLayoutIdLst>
  <p:txStyles>
    <p:titleStyle>
      <a:lvl1pPr algn="l" defTabSz="1216122" rtl="0" eaLnBrk="1" latinLnBrk="1" hangingPunct="1">
        <a:spcBef>
          <a:spcPct val="0"/>
        </a:spcBef>
        <a:buNone/>
        <a:defRPr sz="3724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456046" indent="-456046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608061" indent="0" algn="l" defTabSz="1216122" rtl="0" eaLnBrk="1" latinLnBrk="1" hangingPunct="1">
        <a:spcBef>
          <a:spcPct val="20000"/>
        </a:spcBef>
        <a:buFont typeface="Arial" pitchFamily="34" charset="0"/>
        <a:buNone/>
        <a:defRPr sz="2128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216122" indent="0" algn="l" defTabSz="1216122" rtl="0" eaLnBrk="1" latinLnBrk="1" hangingPunct="1">
        <a:spcBef>
          <a:spcPct val="20000"/>
        </a:spcBef>
        <a:buFont typeface="Arial" pitchFamily="34" charset="0"/>
        <a:buNone/>
        <a:defRPr sz="1596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824182" indent="0" algn="l" defTabSz="1216122" rtl="0" eaLnBrk="1" latinLnBrk="1" hangingPunct="1">
        <a:spcBef>
          <a:spcPct val="20000"/>
        </a:spcBef>
        <a:buFont typeface="Arial" pitchFamily="34" charset="0"/>
        <a:buNone/>
        <a:defRPr sz="1397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736273" indent="-304030" algn="l" defTabSz="1216122" rtl="0" eaLnBrk="1" latinLnBrk="1" hangingPunct="1">
        <a:spcBef>
          <a:spcPct val="20000"/>
        </a:spcBef>
        <a:buFont typeface="Arial" pitchFamily="34" charset="0"/>
        <a:buChar char="»"/>
        <a:defRPr sz="2660" kern="1200">
          <a:solidFill>
            <a:schemeClr val="tx1"/>
          </a:solidFill>
          <a:latin typeface="+mn-lt"/>
          <a:ea typeface="+mn-ea"/>
          <a:cs typeface="+mn-cs"/>
        </a:defRPr>
      </a:lvl5pPr>
      <a:lvl6pPr marL="3344334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6pPr>
      <a:lvl7pPr marL="3952395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7pPr>
      <a:lvl8pPr marL="4560456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8pPr>
      <a:lvl9pPr marL="5168516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1pPr>
      <a:lvl2pPr marL="608061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1216122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3pPr>
      <a:lvl4pPr marL="1824182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4pPr>
      <a:lvl5pPr marL="2432243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5pPr>
      <a:lvl6pPr marL="3040304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6pPr>
      <a:lvl7pPr marL="3648365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7pPr>
      <a:lvl8pPr marL="4256425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8pPr>
      <a:lvl9pPr marL="4864486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40538"/>
          </a:xfrm>
          <a:prstGeom prst="rect">
            <a:avLst/>
          </a:prstGeom>
        </p:spPr>
      </p:pic>
      <p:sp>
        <p:nvSpPr>
          <p:cNvPr id="8" name="직사각형 7"/>
          <p:cNvSpPr/>
          <p:nvPr userDrawn="1"/>
        </p:nvSpPr>
        <p:spPr>
          <a:xfrm>
            <a:off x="-3241" y="0"/>
            <a:ext cx="12195241" cy="6840538"/>
          </a:xfrm>
          <a:prstGeom prst="rect">
            <a:avLst/>
          </a:prstGeom>
          <a:solidFill>
            <a:srgbClr val="E1F0F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51" dirty="0"/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393700" y="6436676"/>
            <a:ext cx="114046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hape 32"/>
          <p:cNvSpPr/>
          <p:nvPr userDrawn="1"/>
        </p:nvSpPr>
        <p:spPr>
          <a:xfrm>
            <a:off x="393700" y="6541702"/>
            <a:ext cx="4768504" cy="137798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b">
            <a:spAutoFit/>
          </a:bodyPr>
          <a:lstStyle>
            <a:lvl1pPr algn="r" defTabSz="914400">
              <a:defRPr sz="13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pPr>
            <a:r>
              <a:rPr kumimoji="0" lang="en-US" altLang="ko-KR" sz="869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  <a:sym typeface="Calibri"/>
              </a:rPr>
              <a:t>Copyright ⓒ </a:t>
            </a:r>
            <a:r>
              <a:rPr kumimoji="0" lang="en-US" altLang="ko-KR" sz="869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  <a:sym typeface="Calibri"/>
              </a:rPr>
              <a:t>2023 </a:t>
            </a:r>
            <a:r>
              <a:rPr kumimoji="0" lang="en-US" altLang="ko-KR" sz="869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  <a:sym typeface="Calibri"/>
              </a:rPr>
              <a:t>KAON BROADBAND Co., Ltd. All rights reserved  |  Confidential</a:t>
            </a: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81720" y="6004281"/>
            <a:ext cx="3237230" cy="398697"/>
          </a:xfrm>
          <a:prstGeom prst="rect">
            <a:avLst/>
          </a:prstGeom>
        </p:spPr>
      </p:pic>
      <p:sp>
        <p:nvSpPr>
          <p:cNvPr id="14" name="직사각형 13"/>
          <p:cNvSpPr/>
          <p:nvPr userDrawn="1"/>
        </p:nvSpPr>
        <p:spPr>
          <a:xfrm>
            <a:off x="393700" y="4212875"/>
            <a:ext cx="198119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033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</p:sldLayoutIdLst>
  <p:txStyles>
    <p:titleStyle>
      <a:lvl1pPr algn="l" defTabSz="1216122" rtl="0" eaLnBrk="1" latinLnBrk="1" hangingPunct="1">
        <a:spcBef>
          <a:spcPct val="0"/>
        </a:spcBef>
        <a:buNone/>
        <a:defRPr sz="3724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456046" indent="-456046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608061" indent="0" algn="l" defTabSz="1216122" rtl="0" eaLnBrk="1" latinLnBrk="1" hangingPunct="1">
        <a:spcBef>
          <a:spcPct val="20000"/>
        </a:spcBef>
        <a:buFont typeface="Arial" pitchFamily="34" charset="0"/>
        <a:buNone/>
        <a:defRPr sz="2128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216122" indent="0" algn="l" defTabSz="1216122" rtl="0" eaLnBrk="1" latinLnBrk="1" hangingPunct="1">
        <a:spcBef>
          <a:spcPct val="20000"/>
        </a:spcBef>
        <a:buFont typeface="Arial" pitchFamily="34" charset="0"/>
        <a:buNone/>
        <a:defRPr sz="1596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824182" indent="0" algn="l" defTabSz="1216122" rtl="0" eaLnBrk="1" latinLnBrk="1" hangingPunct="1">
        <a:spcBef>
          <a:spcPct val="20000"/>
        </a:spcBef>
        <a:buFont typeface="Arial" pitchFamily="34" charset="0"/>
        <a:buNone/>
        <a:defRPr sz="1397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736273" indent="-304030" algn="l" defTabSz="1216122" rtl="0" eaLnBrk="1" latinLnBrk="1" hangingPunct="1">
        <a:spcBef>
          <a:spcPct val="20000"/>
        </a:spcBef>
        <a:buFont typeface="Arial" pitchFamily="34" charset="0"/>
        <a:buChar char="»"/>
        <a:defRPr sz="2660" kern="1200">
          <a:solidFill>
            <a:schemeClr val="tx1"/>
          </a:solidFill>
          <a:latin typeface="+mn-lt"/>
          <a:ea typeface="+mn-ea"/>
          <a:cs typeface="+mn-cs"/>
        </a:defRPr>
      </a:lvl5pPr>
      <a:lvl6pPr marL="3344334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6pPr>
      <a:lvl7pPr marL="3952395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7pPr>
      <a:lvl8pPr marL="4560456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8pPr>
      <a:lvl9pPr marL="5168516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1pPr>
      <a:lvl2pPr marL="608061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1216122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3pPr>
      <a:lvl4pPr marL="1824182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4pPr>
      <a:lvl5pPr marL="2432243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5pPr>
      <a:lvl6pPr marL="3040304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6pPr>
      <a:lvl7pPr marL="3648365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7pPr>
      <a:lvl8pPr marL="4256425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8pPr>
      <a:lvl9pPr marL="4864486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40537"/>
          </a:xfrm>
          <a:prstGeom prst="rect">
            <a:avLst/>
          </a:prstGeom>
        </p:spPr>
      </p:pic>
      <p:sp>
        <p:nvSpPr>
          <p:cNvPr id="7" name="직사각형 6"/>
          <p:cNvSpPr/>
          <p:nvPr userDrawn="1"/>
        </p:nvSpPr>
        <p:spPr>
          <a:xfrm>
            <a:off x="0" y="0"/>
            <a:ext cx="12192012" cy="6840537"/>
          </a:xfrm>
          <a:prstGeom prst="rect">
            <a:avLst/>
          </a:prstGeom>
          <a:solidFill>
            <a:srgbClr val="59595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51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5292477"/>
            <a:ext cx="12192000" cy="1041883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30"/>
          </a:p>
        </p:txBody>
      </p:sp>
    </p:spTree>
    <p:extLst>
      <p:ext uri="{BB962C8B-B14F-4D97-AF65-F5344CB8AC3E}">
        <p14:creationId xmlns:p14="http://schemas.microsoft.com/office/powerpoint/2010/main" val="3309711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</p:sldLayoutIdLst>
  <p:txStyles>
    <p:titleStyle>
      <a:lvl1pPr algn="l" defTabSz="1216122" rtl="0" eaLnBrk="1" latinLnBrk="1" hangingPunct="1">
        <a:spcBef>
          <a:spcPct val="0"/>
        </a:spcBef>
        <a:buNone/>
        <a:defRPr sz="3724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456046" indent="-456046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608061" indent="0" algn="l" defTabSz="1216122" rtl="0" eaLnBrk="1" latinLnBrk="1" hangingPunct="1">
        <a:spcBef>
          <a:spcPct val="20000"/>
        </a:spcBef>
        <a:buFont typeface="Arial" pitchFamily="34" charset="0"/>
        <a:buNone/>
        <a:defRPr sz="2128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216122" indent="0" algn="l" defTabSz="1216122" rtl="0" eaLnBrk="1" latinLnBrk="1" hangingPunct="1">
        <a:spcBef>
          <a:spcPct val="20000"/>
        </a:spcBef>
        <a:buFont typeface="Arial" pitchFamily="34" charset="0"/>
        <a:buNone/>
        <a:defRPr sz="1596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824182" indent="0" algn="l" defTabSz="1216122" rtl="0" eaLnBrk="1" latinLnBrk="1" hangingPunct="1">
        <a:spcBef>
          <a:spcPct val="20000"/>
        </a:spcBef>
        <a:buFont typeface="Arial" pitchFamily="34" charset="0"/>
        <a:buNone/>
        <a:defRPr sz="1397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736273" indent="-304030" algn="l" defTabSz="1216122" rtl="0" eaLnBrk="1" latinLnBrk="1" hangingPunct="1">
        <a:spcBef>
          <a:spcPct val="20000"/>
        </a:spcBef>
        <a:buFont typeface="Arial" pitchFamily="34" charset="0"/>
        <a:buChar char="»"/>
        <a:defRPr sz="2660" kern="1200">
          <a:solidFill>
            <a:schemeClr val="tx1"/>
          </a:solidFill>
          <a:latin typeface="+mn-lt"/>
          <a:ea typeface="+mn-ea"/>
          <a:cs typeface="+mn-cs"/>
        </a:defRPr>
      </a:lvl5pPr>
      <a:lvl6pPr marL="3344334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6pPr>
      <a:lvl7pPr marL="3952395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7pPr>
      <a:lvl8pPr marL="4560456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8pPr>
      <a:lvl9pPr marL="5168516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1pPr>
      <a:lvl2pPr marL="608061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1216122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3pPr>
      <a:lvl4pPr marL="1824182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4pPr>
      <a:lvl5pPr marL="2432243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5pPr>
      <a:lvl6pPr marL="3040304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6pPr>
      <a:lvl7pPr marL="3648365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7pPr>
      <a:lvl8pPr marL="4256425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8pPr>
      <a:lvl9pPr marL="4864486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40538"/>
          </a:xfrm>
          <a:prstGeom prst="rect">
            <a:avLst/>
          </a:prstGeom>
        </p:spPr>
      </p:pic>
      <p:sp>
        <p:nvSpPr>
          <p:cNvPr id="8" name="직사각형 7"/>
          <p:cNvSpPr/>
          <p:nvPr userDrawn="1"/>
        </p:nvSpPr>
        <p:spPr>
          <a:xfrm>
            <a:off x="0" y="0"/>
            <a:ext cx="12192012" cy="6840537"/>
          </a:xfrm>
          <a:prstGeom prst="rect">
            <a:avLst/>
          </a:prstGeom>
          <a:solidFill>
            <a:srgbClr val="59595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51" dirty="0"/>
          </a:p>
        </p:txBody>
      </p:sp>
      <p:sp>
        <p:nvSpPr>
          <p:cNvPr id="9" name="직사각형 8"/>
          <p:cNvSpPr/>
          <p:nvPr userDrawn="1"/>
        </p:nvSpPr>
        <p:spPr>
          <a:xfrm>
            <a:off x="0" y="5292477"/>
            <a:ext cx="12192000" cy="1041883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30"/>
          </a:p>
        </p:txBody>
      </p:sp>
    </p:spTree>
    <p:extLst>
      <p:ext uri="{BB962C8B-B14F-4D97-AF65-F5344CB8AC3E}">
        <p14:creationId xmlns:p14="http://schemas.microsoft.com/office/powerpoint/2010/main" val="1580192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</p:sldLayoutIdLst>
  <p:txStyles>
    <p:titleStyle>
      <a:lvl1pPr algn="l" defTabSz="1216122" rtl="0" eaLnBrk="1" latinLnBrk="1" hangingPunct="1">
        <a:spcBef>
          <a:spcPct val="0"/>
        </a:spcBef>
        <a:buNone/>
        <a:defRPr sz="3724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456046" indent="-456046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608061" indent="0" algn="l" defTabSz="1216122" rtl="0" eaLnBrk="1" latinLnBrk="1" hangingPunct="1">
        <a:spcBef>
          <a:spcPct val="20000"/>
        </a:spcBef>
        <a:buFont typeface="Arial" pitchFamily="34" charset="0"/>
        <a:buNone/>
        <a:defRPr sz="2128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216122" indent="0" algn="l" defTabSz="1216122" rtl="0" eaLnBrk="1" latinLnBrk="1" hangingPunct="1">
        <a:spcBef>
          <a:spcPct val="20000"/>
        </a:spcBef>
        <a:buFont typeface="Arial" pitchFamily="34" charset="0"/>
        <a:buNone/>
        <a:defRPr sz="1596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824182" indent="0" algn="l" defTabSz="1216122" rtl="0" eaLnBrk="1" latinLnBrk="1" hangingPunct="1">
        <a:spcBef>
          <a:spcPct val="20000"/>
        </a:spcBef>
        <a:buFont typeface="Arial" pitchFamily="34" charset="0"/>
        <a:buNone/>
        <a:defRPr sz="1397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736273" indent="-304030" algn="l" defTabSz="1216122" rtl="0" eaLnBrk="1" latinLnBrk="1" hangingPunct="1">
        <a:spcBef>
          <a:spcPct val="20000"/>
        </a:spcBef>
        <a:buFont typeface="Arial" pitchFamily="34" charset="0"/>
        <a:buChar char="»"/>
        <a:defRPr sz="2660" kern="1200">
          <a:solidFill>
            <a:schemeClr val="tx1"/>
          </a:solidFill>
          <a:latin typeface="+mn-lt"/>
          <a:ea typeface="+mn-ea"/>
          <a:cs typeface="+mn-cs"/>
        </a:defRPr>
      </a:lvl5pPr>
      <a:lvl6pPr marL="3344334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6pPr>
      <a:lvl7pPr marL="3952395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7pPr>
      <a:lvl8pPr marL="4560456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8pPr>
      <a:lvl9pPr marL="5168516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1pPr>
      <a:lvl2pPr marL="608061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1216122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3pPr>
      <a:lvl4pPr marL="1824182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4pPr>
      <a:lvl5pPr marL="2432243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5pPr>
      <a:lvl6pPr marL="3040304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6pPr>
      <a:lvl7pPr marL="3648365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7pPr>
      <a:lvl8pPr marL="4256425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8pPr>
      <a:lvl9pPr marL="4864486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40537"/>
          </a:xfrm>
          <a:prstGeom prst="rect">
            <a:avLst/>
          </a:prstGeom>
        </p:spPr>
      </p:pic>
      <p:sp>
        <p:nvSpPr>
          <p:cNvPr id="9" name="직사각형 8"/>
          <p:cNvSpPr/>
          <p:nvPr userDrawn="1"/>
        </p:nvSpPr>
        <p:spPr>
          <a:xfrm>
            <a:off x="0" y="0"/>
            <a:ext cx="12192012" cy="6840537"/>
          </a:xfrm>
          <a:prstGeom prst="rect">
            <a:avLst/>
          </a:prstGeom>
          <a:solidFill>
            <a:srgbClr val="59595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51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5292477"/>
            <a:ext cx="12192000" cy="1041883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30"/>
          </a:p>
        </p:txBody>
      </p:sp>
    </p:spTree>
    <p:extLst>
      <p:ext uri="{BB962C8B-B14F-4D97-AF65-F5344CB8AC3E}">
        <p14:creationId xmlns:p14="http://schemas.microsoft.com/office/powerpoint/2010/main" val="272674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</p:sldLayoutIdLst>
  <p:txStyles>
    <p:titleStyle>
      <a:lvl1pPr algn="l" defTabSz="1216122" rtl="0" eaLnBrk="1" latinLnBrk="1" hangingPunct="1">
        <a:spcBef>
          <a:spcPct val="0"/>
        </a:spcBef>
        <a:buNone/>
        <a:defRPr sz="3724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456046" indent="-456046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608061" indent="0" algn="l" defTabSz="1216122" rtl="0" eaLnBrk="1" latinLnBrk="1" hangingPunct="1">
        <a:spcBef>
          <a:spcPct val="20000"/>
        </a:spcBef>
        <a:buFont typeface="Arial" pitchFamily="34" charset="0"/>
        <a:buNone/>
        <a:defRPr sz="2128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216122" indent="0" algn="l" defTabSz="1216122" rtl="0" eaLnBrk="1" latinLnBrk="1" hangingPunct="1">
        <a:spcBef>
          <a:spcPct val="20000"/>
        </a:spcBef>
        <a:buFont typeface="Arial" pitchFamily="34" charset="0"/>
        <a:buNone/>
        <a:defRPr sz="1596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824182" indent="0" algn="l" defTabSz="1216122" rtl="0" eaLnBrk="1" latinLnBrk="1" hangingPunct="1">
        <a:spcBef>
          <a:spcPct val="20000"/>
        </a:spcBef>
        <a:buFont typeface="Arial" pitchFamily="34" charset="0"/>
        <a:buNone/>
        <a:defRPr sz="1397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736273" indent="-304030" algn="l" defTabSz="1216122" rtl="0" eaLnBrk="1" latinLnBrk="1" hangingPunct="1">
        <a:spcBef>
          <a:spcPct val="20000"/>
        </a:spcBef>
        <a:buFont typeface="Arial" pitchFamily="34" charset="0"/>
        <a:buChar char="»"/>
        <a:defRPr sz="2660" kern="1200">
          <a:solidFill>
            <a:schemeClr val="tx1"/>
          </a:solidFill>
          <a:latin typeface="+mn-lt"/>
          <a:ea typeface="+mn-ea"/>
          <a:cs typeface="+mn-cs"/>
        </a:defRPr>
      </a:lvl5pPr>
      <a:lvl6pPr marL="3344334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6pPr>
      <a:lvl7pPr marL="3952395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7pPr>
      <a:lvl8pPr marL="4560456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8pPr>
      <a:lvl9pPr marL="5168516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1pPr>
      <a:lvl2pPr marL="608061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1216122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3pPr>
      <a:lvl4pPr marL="1824182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4pPr>
      <a:lvl5pPr marL="2432243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5pPr>
      <a:lvl6pPr marL="3040304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6pPr>
      <a:lvl7pPr marL="3648365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7pPr>
      <a:lvl8pPr marL="4256425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8pPr>
      <a:lvl9pPr marL="4864486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 userDrawn="1"/>
        </p:nvGrpSpPr>
        <p:grpSpPr>
          <a:xfrm>
            <a:off x="0" y="0"/>
            <a:ext cx="12192000" cy="6858000"/>
            <a:chOff x="6362700" y="3230880"/>
            <a:chExt cx="12192000" cy="6858000"/>
          </a:xfrm>
        </p:grpSpPr>
        <p:cxnSp>
          <p:nvCxnSpPr>
            <p:cNvPr id="16" name="직선 연결선 15"/>
            <p:cNvCxnSpPr/>
            <p:nvPr/>
          </p:nvCxnSpPr>
          <p:spPr>
            <a:xfrm>
              <a:off x="6931660" y="9515856"/>
              <a:ext cx="10749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그룹 16"/>
            <p:cNvGrpSpPr/>
            <p:nvPr/>
          </p:nvGrpSpPr>
          <p:grpSpPr>
            <a:xfrm>
              <a:off x="6604000" y="3482906"/>
              <a:ext cx="11404600" cy="6275774"/>
              <a:chOff x="393700" y="404426"/>
              <a:chExt cx="11404600" cy="6275774"/>
            </a:xfrm>
          </p:grpSpPr>
          <p:sp>
            <p:nvSpPr>
              <p:cNvPr id="19" name="TextBox 18"/>
              <p:cNvSpPr txBox="1"/>
              <p:nvPr/>
            </p:nvSpPr>
            <p:spPr>
              <a:xfrm>
                <a:off x="601980" y="404426"/>
                <a:ext cx="657098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32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UIT ExtraBold" pitchFamily="2" charset="-127"/>
                    <a:cs typeface="Arial" panose="020B0604020202020204" pitchFamily="34" charset="0"/>
                  </a:rPr>
                  <a:t>TABLE OF CONTENTS</a:t>
                </a:r>
                <a:endParaRPr kumimoji="0" lang="ko-KR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SUIT ExtraBold" pitchFamily="2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0" name="직사각형 19"/>
              <p:cNvSpPr/>
              <p:nvPr/>
            </p:nvSpPr>
            <p:spPr>
              <a:xfrm>
                <a:off x="4168140" y="1378108"/>
                <a:ext cx="7630160" cy="4671060"/>
              </a:xfrm>
              <a:prstGeom prst="rect">
                <a:avLst/>
              </a:prstGeom>
              <a:solidFill>
                <a:schemeClr val="bg1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4312920" y="1378108"/>
                <a:ext cx="7485380" cy="4478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marR="0" lvl="0" indent="-457200" algn="l" defTabSz="914400" rtl="0" eaLnBrk="1" fontAlgn="auto" latinLnBrk="1" hangingPunct="1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eriod"/>
                  <a:tabLst/>
                  <a:defRPr/>
                </a:pPr>
                <a:r>
                  <a:rPr kumimoji="0" lang="en-US" altLang="ko-KR" sz="1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  <a:t>Company Introduction</a:t>
                </a:r>
                <a:r>
                  <a:rPr kumimoji="0" lang="en-US" altLang="ko-KR" sz="1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  <a:t/>
                </a:r>
                <a:br>
                  <a:rPr kumimoji="0" lang="en-US" altLang="ko-KR" sz="1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</a:br>
                <a:r>
                  <a:rPr kumimoji="0" lang="en-US" altLang="ko-KR" sz="1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  <a:t>1.1 Company Information</a:t>
                </a:r>
                <a:br>
                  <a:rPr kumimoji="0" lang="en-US" altLang="ko-KR" sz="1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</a:br>
                <a:r>
                  <a:rPr kumimoji="0" lang="en-US" altLang="ko-KR" sz="1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  <a:t>1.2 Business Scope</a:t>
                </a:r>
                <a:r>
                  <a:rPr kumimoji="0" lang="en-US" altLang="ko-KR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  <a:t/>
                </a:r>
                <a:br>
                  <a:rPr kumimoji="0" lang="en-US" altLang="ko-KR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</a:br>
                <a:r>
                  <a:rPr kumimoji="0" lang="en-US" altLang="ko-KR" sz="1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  <a:t>1.3 History</a:t>
                </a:r>
                <a:br>
                  <a:rPr kumimoji="0" lang="en-US" altLang="ko-KR" sz="1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</a:br>
                <a:r>
                  <a:rPr kumimoji="0" lang="en-US" altLang="ko-KR" sz="1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  <a:t>1.4 Our Global Customers / Global Customers &amp; Partners</a:t>
                </a:r>
                <a:br>
                  <a:rPr kumimoji="0" lang="en-US" altLang="ko-KR" sz="1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</a:br>
                <a:r>
                  <a:rPr kumimoji="0" lang="en-US" altLang="ko-KR" sz="1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  <a:t>1.5 Global Presence / Global Operation / Service Network</a:t>
                </a:r>
              </a:p>
              <a:p>
                <a:pPr marL="457200" marR="0" lvl="0" indent="-457200" algn="l" defTabSz="914400" rtl="0" eaLnBrk="1" fontAlgn="auto" latinLnBrk="1" hangingPunct="1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eriod"/>
                  <a:tabLst/>
                  <a:defRPr/>
                </a:pPr>
                <a:endParaRPr kumimoji="0" lang="en-US" altLang="ko-KR" sz="12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 panose="020B0604020202020204" pitchFamily="50" charset="-127"/>
                  <a:cs typeface="Arial" panose="020B0604020202020204" pitchFamily="34" charset="0"/>
                </a:endParaRPr>
              </a:p>
              <a:p>
                <a:pPr marL="457200" marR="0" lvl="0" indent="-45720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eriod"/>
                  <a:tabLst/>
                  <a:defRPr/>
                </a:pPr>
                <a:r>
                  <a:rPr kumimoji="0" lang="en-US" altLang="ko-KR" sz="1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  <a:t>Product </a:t>
                </a:r>
                <a:r>
                  <a:rPr kumimoji="0" lang="en-US" altLang="ko-KR" sz="1800" b="1" i="0" u="none" strike="noStrike" kern="1200" cap="none" spc="0" normalizeH="0" baseline="0" noProof="0" dirty="0" err="1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  <a:t>Porfolio</a:t>
                </a:r>
                <a:r>
                  <a:rPr kumimoji="0" lang="en-US" altLang="ko-KR" sz="12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  <a:t/>
                </a:r>
                <a:br>
                  <a:rPr kumimoji="0" lang="en-US" altLang="ko-KR" sz="12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</a:br>
                <a:r>
                  <a:rPr kumimoji="0" lang="en-US" altLang="ko-KR" sz="1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  <a:t>- KAON Video Solution Leadership</a:t>
                </a:r>
                <a:br>
                  <a:rPr kumimoji="0" lang="en-US" altLang="ko-KR" sz="1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</a:br>
                <a:r>
                  <a:rPr kumimoji="0" lang="en-US" altLang="ko-KR" sz="1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  <a:t>- KAON Video Solution</a:t>
                </a:r>
                <a:br>
                  <a:rPr kumimoji="0" lang="en-US" altLang="ko-KR" sz="1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</a:br>
                <a:r>
                  <a:rPr kumimoji="0" lang="en-US" altLang="ko-KR" sz="11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  <a:t>(Evolvement / Portfolio / Voice Assistant / Android TV &amp; OTT / Linux(Benjamin) / RDK-V / KRMS)</a:t>
                </a:r>
              </a:p>
              <a:p>
                <a:pPr marL="457200" marR="0" lvl="0" indent="-45720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eriod"/>
                  <a:tabLst/>
                  <a:defRPr/>
                </a:pPr>
                <a:endParaRPr kumimoji="0" lang="en-US" altLang="ko-KR" sz="11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 panose="020B0604020202020204" pitchFamily="50" charset="-127"/>
                  <a:cs typeface="Arial" panose="020B0604020202020204" pitchFamily="34" charset="0"/>
                </a:endParaRPr>
              </a:p>
              <a:p>
                <a:pPr marL="457200" marR="0" lvl="0" indent="-45720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eriod"/>
                  <a:tabLst/>
                  <a:defRPr/>
                </a:pPr>
                <a:r>
                  <a:rPr kumimoji="0" lang="en-US" altLang="ko-KR" sz="1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  <a:t>Sustainability</a:t>
                </a:r>
                <a:r>
                  <a:rPr kumimoji="0" lang="en-US" altLang="ko-KR" sz="11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  <a:t/>
                </a:r>
                <a:br>
                  <a:rPr kumimoji="0" lang="en-US" altLang="ko-KR" sz="11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</a:br>
                <a:r>
                  <a:rPr kumimoji="0" lang="en-US" altLang="ko-KR" sz="1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 Unicode MS" panose="020B0604020202020204" pitchFamily="50" charset="-127"/>
                    <a:cs typeface="Arial" panose="020B0604020202020204" pitchFamily="34" charset="0"/>
                  </a:rPr>
                  <a:t>- Kaon Sustainability (ESG) / Green Management / Eco-Design / Eco-impact / CSR / Certifications</a:t>
                </a:r>
                <a:endPara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 panose="020B0604020202020204" pitchFamily="50" charset="-127"/>
                  <a:cs typeface="Arial" panose="020B0604020202020204" pitchFamily="34" charset="0"/>
                </a:endParaRPr>
              </a:p>
            </p:txBody>
          </p:sp>
          <p:cxnSp>
            <p:nvCxnSpPr>
              <p:cNvPr id="29" name="직선 연결선 28"/>
              <p:cNvCxnSpPr/>
              <p:nvPr/>
            </p:nvCxnSpPr>
            <p:spPr>
              <a:xfrm>
                <a:off x="393700" y="989900"/>
                <a:ext cx="11404600" cy="0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직선 연결선 29"/>
              <p:cNvCxnSpPr/>
              <p:nvPr/>
            </p:nvCxnSpPr>
            <p:spPr>
              <a:xfrm>
                <a:off x="393700" y="6436676"/>
                <a:ext cx="11404600" cy="0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Shape 32"/>
              <p:cNvSpPr/>
              <p:nvPr/>
            </p:nvSpPr>
            <p:spPr>
              <a:xfrm>
                <a:off x="393700" y="6541701"/>
                <a:ext cx="3754813" cy="138499"/>
              </a:xfrm>
              <a:prstGeom prst="rect">
                <a:avLst/>
              </a:prstGeom>
              <a:noFill/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0" tIns="0" rIns="0" bIns="0" anchor="b">
                <a:spAutoFit/>
              </a:bodyPr>
              <a:lstStyle>
                <a:lvl1pPr algn="r" defTabSz="914400">
                  <a:defRPr sz="1300"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800"/>
                </a:pPr>
                <a:r>
                  <a:rPr kumimoji="0" sz="869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맑은 고딕"/>
                    <a:cs typeface="Arial" panose="020B0604020202020204" pitchFamily="34" charset="0"/>
                    <a:sym typeface="Calibri"/>
                  </a:rPr>
                  <a:t>Copyright ⓒ </a:t>
                </a:r>
                <a:r>
                  <a:rPr kumimoji="0" sz="869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맑은 고딕"/>
                    <a:cs typeface="Arial" panose="020B0604020202020204" pitchFamily="34" charset="0"/>
                    <a:sym typeface="Calibri"/>
                  </a:rPr>
                  <a:t>20</a:t>
                </a:r>
                <a:r>
                  <a:rPr kumimoji="0" lang="en-US" sz="869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맑은 고딕"/>
                    <a:cs typeface="Arial" panose="020B0604020202020204" pitchFamily="34" charset="0"/>
                    <a:sym typeface="Calibri"/>
                  </a:rPr>
                  <a:t>22</a:t>
                </a:r>
                <a:r>
                  <a:rPr kumimoji="0" sz="869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맑은 고딕"/>
                    <a:cs typeface="Arial" panose="020B0604020202020204" pitchFamily="34" charset="0"/>
                    <a:sym typeface="Calibri"/>
                  </a:rPr>
                  <a:t> K</a:t>
                </a:r>
                <a:r>
                  <a:rPr kumimoji="0" lang="en-US" sz="869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맑은 고딕"/>
                    <a:cs typeface="Arial" panose="020B0604020202020204" pitchFamily="34" charset="0"/>
                    <a:sym typeface="Calibri"/>
                  </a:rPr>
                  <a:t>AONMEDIA</a:t>
                </a:r>
                <a:r>
                  <a:rPr kumimoji="0" sz="869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맑은 고딕"/>
                    <a:cs typeface="Arial" panose="020B0604020202020204" pitchFamily="34" charset="0"/>
                    <a:sym typeface="Calibri"/>
                  </a:rPr>
                  <a:t> </a:t>
                </a:r>
                <a:r>
                  <a:rPr kumimoji="0" sz="869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맑은 고딕"/>
                    <a:cs typeface="Arial" panose="020B0604020202020204" pitchFamily="34" charset="0"/>
                    <a:sym typeface="Calibri"/>
                  </a:rPr>
                  <a:t>Co., Ltd. All rights reserved  |  </a:t>
                </a:r>
                <a:r>
                  <a:rPr kumimoji="0" sz="869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맑은 고딕"/>
                    <a:cs typeface="Arial" panose="020B0604020202020204" pitchFamily="34" charset="0"/>
                    <a:sym typeface="Calibri"/>
                  </a:rPr>
                  <a:t>Confidential</a:t>
                </a:r>
                <a:endParaRPr kumimoji="0" sz="869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/>
                  <a:cs typeface="Arial" panose="020B0604020202020204" pitchFamily="34" charset="0"/>
                  <a:sym typeface="Calibri"/>
                </a:endParaRPr>
              </a:p>
            </p:txBody>
          </p:sp>
          <p:sp>
            <p:nvSpPr>
              <p:cNvPr id="32" name="직사각형 31"/>
              <p:cNvSpPr/>
              <p:nvPr/>
            </p:nvSpPr>
            <p:spPr>
              <a:xfrm>
                <a:off x="4122420" y="1377408"/>
                <a:ext cx="45719" cy="4671759"/>
              </a:xfrm>
              <a:prstGeom prst="rect">
                <a:avLst/>
              </a:prstGeom>
              <a:solidFill>
                <a:srgbClr val="F582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393700" y="436880"/>
                <a:ext cx="208280" cy="552321"/>
              </a:xfrm>
              <a:prstGeom prst="rect">
                <a:avLst/>
              </a:prstGeom>
              <a:solidFill>
                <a:srgbClr val="F582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pic>
          <p:nvPicPr>
            <p:cNvPr id="18" name="그림 17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362700" y="3230880"/>
              <a:ext cx="12192000" cy="6858000"/>
            </a:xfrm>
            <a:prstGeom prst="rect">
              <a:avLst/>
            </a:prstGeom>
          </p:spPr>
        </p:pic>
      </p:grpSp>
      <p:sp>
        <p:nvSpPr>
          <p:cNvPr id="34" name="직사각형 33"/>
          <p:cNvSpPr/>
          <p:nvPr userDrawn="1"/>
        </p:nvSpPr>
        <p:spPr>
          <a:xfrm>
            <a:off x="0" y="0"/>
            <a:ext cx="12192012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51" dirty="0"/>
          </a:p>
        </p:txBody>
      </p:sp>
      <p:sp>
        <p:nvSpPr>
          <p:cNvPr id="24" name="Text Box 1029"/>
          <p:cNvSpPr txBox="1">
            <a:spLocks noChangeArrowheads="1"/>
          </p:cNvSpPr>
          <p:nvPr userDrawn="1"/>
        </p:nvSpPr>
        <p:spPr bwMode="auto">
          <a:xfrm>
            <a:off x="5121130" y="6471885"/>
            <a:ext cx="1949755" cy="269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89145" tIns="44570" rIns="89145" bIns="4457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0"/>
                <a:ea typeface="굴림" charset="0"/>
                <a:cs typeface="굴림" charset="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0"/>
                <a:ea typeface="굴림" charset="0"/>
                <a:cs typeface="굴림" charset="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0"/>
                <a:ea typeface="굴림" charset="0"/>
                <a:cs typeface="굴림" charset="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0"/>
                <a:ea typeface="굴림" charset="0"/>
                <a:cs typeface="굴림" charset="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0"/>
                <a:ea typeface="굴림" charset="0"/>
                <a:cs typeface="굴림" charset="0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0"/>
                <a:ea typeface="굴림" charset="0"/>
                <a:cs typeface="굴림" charset="0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0"/>
                <a:ea typeface="굴림" charset="0"/>
                <a:cs typeface="굴림" charset="0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0"/>
                <a:ea typeface="굴림" charset="0"/>
                <a:cs typeface="굴림" charset="0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0"/>
                <a:ea typeface="굴림" charset="0"/>
                <a:cs typeface="굴림" charset="0"/>
              </a:defRPr>
            </a:lvl9pPr>
          </a:lstStyle>
          <a:p>
            <a:pPr algn="ctr" defTabSz="891453" fontAlgn="base" latinLnBrk="0">
              <a:lnSpc>
                <a:spcPct val="101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0" lang="en-US" altLang="ko-KR" sz="1092" dirty="0" smtClean="0">
                <a:solidFill>
                  <a:prstClr val="white">
                    <a:lumMod val="50000"/>
                  </a:prstClr>
                </a:solidFill>
                <a:latin typeface="Calibri" panose="020F0502020204030204" pitchFamily="34" charset="0"/>
                <a:ea typeface="맑은 고딕"/>
                <a:cs typeface="맑은 고딕"/>
                <a:sym typeface="Apple SD 산돌고딕 Neo 옅은체"/>
              </a:rPr>
              <a:t>Page. </a:t>
            </a:r>
            <a:fld id="{50C680B2-3738-AF4D-96AB-0D40938D04C5}" type="slidenum">
              <a:rPr kumimoji="0" lang="en-US" altLang="ko-KR" sz="1092" smtClean="0">
                <a:solidFill>
                  <a:prstClr val="white">
                    <a:lumMod val="50000"/>
                  </a:prstClr>
                </a:solidFill>
                <a:latin typeface="Calibri" panose="020F0502020204030204" pitchFamily="34" charset="0"/>
                <a:ea typeface="맑은 고딕"/>
                <a:cs typeface="맑은 고딕"/>
                <a:sym typeface="Apple SD 산돌고딕 Neo 옅은체"/>
              </a:rPr>
              <a:pPr algn="ctr" defTabSz="891453" fontAlgn="base" latinLnBrk="0">
                <a:lnSpc>
                  <a:spcPct val="101000"/>
                </a:lnSpc>
                <a:spcBef>
                  <a:spcPct val="50000"/>
                </a:spcBef>
                <a:spcAft>
                  <a:spcPct val="0"/>
                </a:spcAft>
              </a:pPr>
              <a:t>‹#›</a:t>
            </a:fld>
            <a:endParaRPr kumimoji="0" lang="en-US" altLang="ko-KR" sz="1092" dirty="0">
              <a:solidFill>
                <a:prstClr val="white">
                  <a:lumMod val="50000"/>
                </a:prstClr>
              </a:solidFill>
              <a:latin typeface="Calibri" panose="020F0502020204030204" pitchFamily="34" charset="0"/>
              <a:ea typeface="맑은 고딕"/>
              <a:cs typeface="맑은 고딕"/>
              <a:sym typeface="Apple SD 산돌고딕 Neo 옅은체"/>
            </a:endParaRPr>
          </a:p>
        </p:txBody>
      </p:sp>
      <p:pic>
        <p:nvPicPr>
          <p:cNvPr id="27" name="그림 26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7618" y="6525271"/>
            <a:ext cx="2257014" cy="228574"/>
          </a:xfrm>
          <a:prstGeom prst="rect">
            <a:avLst/>
          </a:prstGeom>
        </p:spPr>
      </p:pic>
      <p:cxnSp>
        <p:nvCxnSpPr>
          <p:cNvPr id="10" name="직선 연결선 9"/>
          <p:cNvCxnSpPr/>
          <p:nvPr userDrawn="1"/>
        </p:nvCxnSpPr>
        <p:spPr>
          <a:xfrm>
            <a:off x="393700" y="745249"/>
            <a:ext cx="114046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 userDrawn="1"/>
        </p:nvSpPr>
        <p:spPr>
          <a:xfrm>
            <a:off x="393700" y="323925"/>
            <a:ext cx="136301" cy="4206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393700" y="6436676"/>
            <a:ext cx="114046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hape 32"/>
          <p:cNvSpPr/>
          <p:nvPr userDrawn="1"/>
        </p:nvSpPr>
        <p:spPr>
          <a:xfrm>
            <a:off x="393700" y="6541702"/>
            <a:ext cx="4768504" cy="137798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b">
            <a:spAutoFit/>
          </a:bodyPr>
          <a:lstStyle>
            <a:lvl1pPr algn="r" defTabSz="914400">
              <a:defRPr sz="13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pPr>
            <a:r>
              <a:rPr kumimoji="0" lang="en-US" altLang="ko-KR" sz="869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  <a:sym typeface="Calibri"/>
              </a:rPr>
              <a:t>Copyright ⓒ </a:t>
            </a:r>
            <a:r>
              <a:rPr kumimoji="0" lang="en-US" altLang="ko-KR" sz="869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  <a:sym typeface="Calibri"/>
              </a:rPr>
              <a:t>2023 </a:t>
            </a:r>
            <a:r>
              <a:rPr kumimoji="0" lang="en-US" altLang="ko-KR" sz="869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  <a:sym typeface="Calibri"/>
              </a:rPr>
              <a:t>KAON BROADBAND Co., Ltd. All rights reserved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2326736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</p:sldLayoutIdLst>
  <p:txStyles>
    <p:titleStyle>
      <a:lvl1pPr algn="l" defTabSz="1216122" rtl="0" eaLnBrk="1" latinLnBrk="1" hangingPunct="1">
        <a:spcBef>
          <a:spcPct val="0"/>
        </a:spcBef>
        <a:buNone/>
        <a:defRPr sz="3724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456046" indent="-456046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608061" indent="0" algn="l" defTabSz="1216122" rtl="0" eaLnBrk="1" latinLnBrk="1" hangingPunct="1">
        <a:spcBef>
          <a:spcPct val="20000"/>
        </a:spcBef>
        <a:buFont typeface="Arial" pitchFamily="34" charset="0"/>
        <a:buNone/>
        <a:defRPr sz="2128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216122" indent="0" algn="l" defTabSz="1216122" rtl="0" eaLnBrk="1" latinLnBrk="1" hangingPunct="1">
        <a:spcBef>
          <a:spcPct val="20000"/>
        </a:spcBef>
        <a:buFont typeface="Arial" pitchFamily="34" charset="0"/>
        <a:buNone/>
        <a:defRPr sz="1596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824182" indent="0" algn="l" defTabSz="1216122" rtl="0" eaLnBrk="1" latinLnBrk="1" hangingPunct="1">
        <a:spcBef>
          <a:spcPct val="20000"/>
        </a:spcBef>
        <a:buFont typeface="Arial" pitchFamily="34" charset="0"/>
        <a:buNone/>
        <a:defRPr sz="1397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736273" indent="-304030" algn="l" defTabSz="1216122" rtl="0" eaLnBrk="1" latinLnBrk="1" hangingPunct="1">
        <a:spcBef>
          <a:spcPct val="20000"/>
        </a:spcBef>
        <a:buFont typeface="Arial" pitchFamily="34" charset="0"/>
        <a:buChar char="»"/>
        <a:defRPr sz="2660" kern="1200">
          <a:solidFill>
            <a:schemeClr val="tx1"/>
          </a:solidFill>
          <a:latin typeface="+mn-lt"/>
          <a:ea typeface="+mn-ea"/>
          <a:cs typeface="+mn-cs"/>
        </a:defRPr>
      </a:lvl5pPr>
      <a:lvl6pPr marL="3344334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6pPr>
      <a:lvl7pPr marL="3952395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7pPr>
      <a:lvl8pPr marL="4560456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8pPr>
      <a:lvl9pPr marL="5168516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1pPr>
      <a:lvl2pPr marL="608061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1216122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3pPr>
      <a:lvl4pPr marL="1824182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4pPr>
      <a:lvl5pPr marL="2432243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5pPr>
      <a:lvl6pPr marL="3040304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6pPr>
      <a:lvl7pPr marL="3648365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7pPr>
      <a:lvl8pPr marL="4256425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8pPr>
      <a:lvl9pPr marL="4864486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029"/>
          <p:cNvSpPr txBox="1">
            <a:spLocks noChangeArrowheads="1"/>
          </p:cNvSpPr>
          <p:nvPr userDrawn="1"/>
        </p:nvSpPr>
        <p:spPr bwMode="auto">
          <a:xfrm>
            <a:off x="5121130" y="6471885"/>
            <a:ext cx="1949755" cy="269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89145" tIns="44570" rIns="89145" bIns="4457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0"/>
                <a:ea typeface="굴림" charset="0"/>
                <a:cs typeface="굴림" charset="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0"/>
                <a:ea typeface="굴림" charset="0"/>
                <a:cs typeface="굴림" charset="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0"/>
                <a:ea typeface="굴림" charset="0"/>
                <a:cs typeface="굴림" charset="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0"/>
                <a:ea typeface="굴림" charset="0"/>
                <a:cs typeface="굴림" charset="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0"/>
                <a:ea typeface="굴림" charset="0"/>
                <a:cs typeface="굴림" charset="0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0"/>
                <a:ea typeface="굴림" charset="0"/>
                <a:cs typeface="굴림" charset="0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0"/>
                <a:ea typeface="굴림" charset="0"/>
                <a:cs typeface="굴림" charset="0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0"/>
                <a:ea typeface="굴림" charset="0"/>
                <a:cs typeface="굴림" charset="0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0"/>
                <a:ea typeface="굴림" charset="0"/>
                <a:cs typeface="굴림" charset="0"/>
              </a:defRPr>
            </a:lvl9pPr>
          </a:lstStyle>
          <a:p>
            <a:pPr algn="ctr" defTabSz="891453" fontAlgn="base" latinLnBrk="0">
              <a:lnSpc>
                <a:spcPct val="101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0" lang="en-US" altLang="ko-KR" sz="1092" dirty="0" smtClean="0">
                <a:solidFill>
                  <a:prstClr val="white">
                    <a:lumMod val="50000"/>
                  </a:prstClr>
                </a:solidFill>
                <a:latin typeface="Calibri" panose="020F0502020204030204" pitchFamily="34" charset="0"/>
                <a:ea typeface="맑은 고딕"/>
                <a:cs typeface="맑은 고딕"/>
                <a:sym typeface="Apple SD 산돌고딕 Neo 옅은체"/>
              </a:rPr>
              <a:t>Page. </a:t>
            </a:r>
            <a:fld id="{50C680B2-3738-AF4D-96AB-0D40938D04C5}" type="slidenum">
              <a:rPr kumimoji="0" lang="en-US" altLang="ko-KR" sz="1092" smtClean="0">
                <a:solidFill>
                  <a:prstClr val="white">
                    <a:lumMod val="50000"/>
                  </a:prstClr>
                </a:solidFill>
                <a:latin typeface="Calibri" panose="020F0502020204030204" pitchFamily="34" charset="0"/>
                <a:ea typeface="맑은 고딕"/>
                <a:cs typeface="맑은 고딕"/>
                <a:sym typeface="Apple SD 산돌고딕 Neo 옅은체"/>
              </a:rPr>
              <a:pPr algn="ctr" defTabSz="891453" fontAlgn="base" latinLnBrk="0">
                <a:lnSpc>
                  <a:spcPct val="101000"/>
                </a:lnSpc>
                <a:spcBef>
                  <a:spcPct val="50000"/>
                </a:spcBef>
                <a:spcAft>
                  <a:spcPct val="0"/>
                </a:spcAft>
              </a:pPr>
              <a:t>‹#›</a:t>
            </a:fld>
            <a:endParaRPr kumimoji="0" lang="en-US" altLang="ko-KR" sz="1092" dirty="0">
              <a:solidFill>
                <a:prstClr val="white">
                  <a:lumMod val="50000"/>
                </a:prstClr>
              </a:solidFill>
              <a:latin typeface="Calibri" panose="020F0502020204030204" pitchFamily="34" charset="0"/>
              <a:ea typeface="맑은 고딕"/>
              <a:cs typeface="맑은 고딕"/>
              <a:sym typeface="Apple SD 산돌고딕 Neo 옅은체"/>
            </a:endParaRPr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7618" y="6525271"/>
            <a:ext cx="2257014" cy="228574"/>
          </a:xfrm>
          <a:prstGeom prst="rect">
            <a:avLst/>
          </a:prstGeom>
        </p:spPr>
      </p:pic>
      <p:cxnSp>
        <p:nvCxnSpPr>
          <p:cNvPr id="5" name="직선 연결선 4"/>
          <p:cNvCxnSpPr/>
          <p:nvPr userDrawn="1"/>
        </p:nvCxnSpPr>
        <p:spPr>
          <a:xfrm>
            <a:off x="393700" y="673241"/>
            <a:ext cx="114046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 userDrawn="1"/>
        </p:nvSpPr>
        <p:spPr>
          <a:xfrm>
            <a:off x="393700" y="251917"/>
            <a:ext cx="136301" cy="4206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393700" y="6436676"/>
            <a:ext cx="114046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hape 32"/>
          <p:cNvSpPr/>
          <p:nvPr userDrawn="1"/>
        </p:nvSpPr>
        <p:spPr>
          <a:xfrm>
            <a:off x="393700" y="6541702"/>
            <a:ext cx="4768504" cy="137798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b">
            <a:spAutoFit/>
          </a:bodyPr>
          <a:lstStyle>
            <a:lvl1pPr algn="r" defTabSz="914400">
              <a:defRPr sz="13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pPr>
            <a:r>
              <a:rPr kumimoji="0" lang="en-US" altLang="ko-KR" sz="869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  <a:sym typeface="Calibri"/>
              </a:rPr>
              <a:t>Copyright ⓒ </a:t>
            </a:r>
            <a:r>
              <a:rPr kumimoji="0" lang="en-US" altLang="ko-KR" sz="869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  <a:sym typeface="Calibri"/>
              </a:rPr>
              <a:t>2023 </a:t>
            </a:r>
            <a:r>
              <a:rPr kumimoji="0" lang="en-US" altLang="ko-KR" sz="869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  <a:sym typeface="Calibri"/>
              </a:rPr>
              <a:t>KAON BROADBAND Co., Ltd. All rights reserved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2838886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</p:sldLayoutIdLst>
  <p:txStyles>
    <p:titleStyle>
      <a:lvl1pPr algn="l" defTabSz="1216122" rtl="0" eaLnBrk="1" latinLnBrk="1" hangingPunct="1">
        <a:spcBef>
          <a:spcPct val="0"/>
        </a:spcBef>
        <a:buNone/>
        <a:defRPr sz="3724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456046" indent="-456046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608061" indent="0" algn="l" defTabSz="1216122" rtl="0" eaLnBrk="1" latinLnBrk="1" hangingPunct="1">
        <a:spcBef>
          <a:spcPct val="20000"/>
        </a:spcBef>
        <a:buFont typeface="Arial" pitchFamily="34" charset="0"/>
        <a:buNone/>
        <a:defRPr sz="2128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216122" indent="0" algn="l" defTabSz="1216122" rtl="0" eaLnBrk="1" latinLnBrk="1" hangingPunct="1">
        <a:spcBef>
          <a:spcPct val="20000"/>
        </a:spcBef>
        <a:buFont typeface="Arial" pitchFamily="34" charset="0"/>
        <a:buNone/>
        <a:defRPr sz="1596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824182" indent="0" algn="l" defTabSz="1216122" rtl="0" eaLnBrk="1" latinLnBrk="1" hangingPunct="1">
        <a:spcBef>
          <a:spcPct val="20000"/>
        </a:spcBef>
        <a:buFont typeface="Arial" pitchFamily="34" charset="0"/>
        <a:buNone/>
        <a:defRPr sz="1397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736273" indent="-304030" algn="l" defTabSz="1216122" rtl="0" eaLnBrk="1" latinLnBrk="1" hangingPunct="1">
        <a:spcBef>
          <a:spcPct val="20000"/>
        </a:spcBef>
        <a:buFont typeface="Arial" pitchFamily="34" charset="0"/>
        <a:buChar char="»"/>
        <a:defRPr sz="2660" kern="1200">
          <a:solidFill>
            <a:schemeClr val="tx1"/>
          </a:solidFill>
          <a:latin typeface="+mn-lt"/>
          <a:ea typeface="+mn-ea"/>
          <a:cs typeface="+mn-cs"/>
        </a:defRPr>
      </a:lvl5pPr>
      <a:lvl6pPr marL="3344334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6pPr>
      <a:lvl7pPr marL="3952395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7pPr>
      <a:lvl8pPr marL="4560456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8pPr>
      <a:lvl9pPr marL="5168516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1pPr>
      <a:lvl2pPr marL="608061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1216122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3pPr>
      <a:lvl4pPr marL="1824182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4pPr>
      <a:lvl5pPr marL="2432243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5pPr>
      <a:lvl6pPr marL="3040304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6pPr>
      <a:lvl7pPr marL="3648365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7pPr>
      <a:lvl8pPr marL="4256425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8pPr>
      <a:lvl9pPr marL="4864486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6"/>
          <p:cNvSpPr/>
          <p:nvPr userDrawn="1"/>
        </p:nvSpPr>
        <p:spPr>
          <a:xfrm>
            <a:off x="7" y="0"/>
            <a:ext cx="12192000" cy="3590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705" tIns="48352" rIns="96705" bIns="48352" rtlCol="0" anchor="ctr"/>
          <a:lstStyle/>
          <a:p>
            <a:pPr algn="ctr"/>
            <a:endParaRPr lang="ko-KR" altLang="en-US" sz="1456">
              <a:solidFill>
                <a:prstClr val="white"/>
              </a:solidFill>
            </a:endParaRPr>
          </a:p>
        </p:txBody>
      </p:sp>
      <p:sp>
        <p:nvSpPr>
          <p:cNvPr id="21" name="Rectangle 7"/>
          <p:cNvSpPr/>
          <p:nvPr userDrawn="1"/>
        </p:nvSpPr>
        <p:spPr>
          <a:xfrm>
            <a:off x="6792008" y="0"/>
            <a:ext cx="5399999" cy="3590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705" tIns="48352" rIns="96705" bIns="48352" rtlCol="0" anchor="ctr"/>
          <a:lstStyle/>
          <a:p>
            <a:pPr algn="ctr"/>
            <a:endParaRPr lang="ko-KR" altLang="en-US" sz="1456">
              <a:solidFill>
                <a:prstClr val="white"/>
              </a:solidFill>
            </a:endParaRPr>
          </a:p>
        </p:txBody>
      </p:sp>
      <p:sp>
        <p:nvSpPr>
          <p:cNvPr id="24" name="Text Box 1029"/>
          <p:cNvSpPr txBox="1">
            <a:spLocks noChangeArrowheads="1"/>
          </p:cNvSpPr>
          <p:nvPr userDrawn="1"/>
        </p:nvSpPr>
        <p:spPr bwMode="auto">
          <a:xfrm>
            <a:off x="5121130" y="6471885"/>
            <a:ext cx="1949755" cy="269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89145" tIns="44570" rIns="89145" bIns="4457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0"/>
                <a:ea typeface="굴림" charset="0"/>
                <a:cs typeface="굴림" charset="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0"/>
                <a:ea typeface="굴림" charset="0"/>
                <a:cs typeface="굴림" charset="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0"/>
                <a:ea typeface="굴림" charset="0"/>
                <a:cs typeface="굴림" charset="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0"/>
                <a:ea typeface="굴림" charset="0"/>
                <a:cs typeface="굴림" charset="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0"/>
                <a:ea typeface="굴림" charset="0"/>
                <a:cs typeface="굴림" charset="0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0"/>
                <a:ea typeface="굴림" charset="0"/>
                <a:cs typeface="굴림" charset="0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0"/>
                <a:ea typeface="굴림" charset="0"/>
                <a:cs typeface="굴림" charset="0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0"/>
                <a:ea typeface="굴림" charset="0"/>
                <a:cs typeface="굴림" charset="0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0"/>
                <a:ea typeface="굴림" charset="0"/>
                <a:cs typeface="굴림" charset="0"/>
              </a:defRPr>
            </a:lvl9pPr>
          </a:lstStyle>
          <a:p>
            <a:pPr algn="ctr" defTabSz="891453" fontAlgn="base" latinLnBrk="0">
              <a:lnSpc>
                <a:spcPct val="101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0" lang="en-US" altLang="ko-KR" sz="1092" dirty="0" smtClean="0">
                <a:solidFill>
                  <a:prstClr val="white">
                    <a:lumMod val="50000"/>
                  </a:prstClr>
                </a:solidFill>
                <a:latin typeface="Calibri" panose="020F0502020204030204" pitchFamily="34" charset="0"/>
                <a:ea typeface="맑은 고딕"/>
                <a:cs typeface="맑은 고딕"/>
                <a:sym typeface="Apple SD 산돌고딕 Neo 옅은체"/>
              </a:rPr>
              <a:t>Page. </a:t>
            </a:r>
            <a:fld id="{50C680B2-3738-AF4D-96AB-0D40938D04C5}" type="slidenum">
              <a:rPr kumimoji="0" lang="en-US" altLang="ko-KR" sz="1092" smtClean="0">
                <a:solidFill>
                  <a:prstClr val="white">
                    <a:lumMod val="50000"/>
                  </a:prstClr>
                </a:solidFill>
                <a:latin typeface="Calibri" panose="020F0502020204030204" pitchFamily="34" charset="0"/>
                <a:ea typeface="맑은 고딕"/>
                <a:cs typeface="맑은 고딕"/>
                <a:sym typeface="Apple SD 산돌고딕 Neo 옅은체"/>
              </a:rPr>
              <a:pPr algn="ctr" defTabSz="891453" fontAlgn="base" latinLnBrk="0">
                <a:lnSpc>
                  <a:spcPct val="101000"/>
                </a:lnSpc>
                <a:spcBef>
                  <a:spcPct val="50000"/>
                </a:spcBef>
                <a:spcAft>
                  <a:spcPct val="0"/>
                </a:spcAft>
              </a:pPr>
              <a:t>‹#›</a:t>
            </a:fld>
            <a:endParaRPr kumimoji="0" lang="en-US" altLang="ko-KR" sz="1092" dirty="0">
              <a:solidFill>
                <a:prstClr val="white">
                  <a:lumMod val="50000"/>
                </a:prstClr>
              </a:solidFill>
              <a:latin typeface="Calibri" panose="020F0502020204030204" pitchFamily="34" charset="0"/>
              <a:ea typeface="맑은 고딕"/>
              <a:cs typeface="맑은 고딕"/>
              <a:sym typeface="Apple SD 산돌고딕 Neo 옅은체"/>
            </a:endParaRPr>
          </a:p>
        </p:txBody>
      </p:sp>
      <p:sp>
        <p:nvSpPr>
          <p:cNvPr id="25" name="Shape 32"/>
          <p:cNvSpPr/>
          <p:nvPr userDrawn="1"/>
        </p:nvSpPr>
        <p:spPr>
          <a:xfrm>
            <a:off x="243185" y="6537233"/>
            <a:ext cx="442664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>
            <a:lvl1pPr algn="r" defTabSz="914400">
              <a:defRPr sz="13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algn="l">
              <a:defRPr sz="1800"/>
            </a:pPr>
            <a:r>
              <a:rPr lang="en-US" sz="869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Strictly Confidential and Intellectual Property of KAON BROADBAND</a:t>
            </a:r>
            <a:endParaRPr sz="869" dirty="0">
              <a:solidFill>
                <a:prstClr val="black">
                  <a:lumMod val="50000"/>
                  <a:lumOff val="50000"/>
                </a:prstClr>
              </a:solidFill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cxnSp>
        <p:nvCxnSpPr>
          <p:cNvPr id="26" name="직선 연결선 25"/>
          <p:cNvCxnSpPr/>
          <p:nvPr userDrawn="1"/>
        </p:nvCxnSpPr>
        <p:spPr>
          <a:xfrm>
            <a:off x="7" y="6353929"/>
            <a:ext cx="12191996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그림 26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70789" y="6461339"/>
            <a:ext cx="2582625" cy="26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933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</p:sldLayoutIdLst>
  <p:txStyles>
    <p:titleStyle>
      <a:lvl1pPr algn="l" defTabSz="1216122" rtl="0" eaLnBrk="1" latinLnBrk="1" hangingPunct="1">
        <a:spcBef>
          <a:spcPct val="0"/>
        </a:spcBef>
        <a:buNone/>
        <a:defRPr sz="3724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456046" indent="-456046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608061" indent="0" algn="l" defTabSz="1216122" rtl="0" eaLnBrk="1" latinLnBrk="1" hangingPunct="1">
        <a:spcBef>
          <a:spcPct val="20000"/>
        </a:spcBef>
        <a:buFont typeface="Arial" pitchFamily="34" charset="0"/>
        <a:buNone/>
        <a:defRPr sz="2128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216122" indent="0" algn="l" defTabSz="1216122" rtl="0" eaLnBrk="1" latinLnBrk="1" hangingPunct="1">
        <a:spcBef>
          <a:spcPct val="20000"/>
        </a:spcBef>
        <a:buFont typeface="Arial" pitchFamily="34" charset="0"/>
        <a:buNone/>
        <a:defRPr sz="1596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824182" indent="0" algn="l" defTabSz="1216122" rtl="0" eaLnBrk="1" latinLnBrk="1" hangingPunct="1">
        <a:spcBef>
          <a:spcPct val="20000"/>
        </a:spcBef>
        <a:buFont typeface="Arial" pitchFamily="34" charset="0"/>
        <a:buNone/>
        <a:defRPr sz="1397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736273" indent="-304030" algn="l" defTabSz="1216122" rtl="0" eaLnBrk="1" latinLnBrk="1" hangingPunct="1">
        <a:spcBef>
          <a:spcPct val="20000"/>
        </a:spcBef>
        <a:buFont typeface="Arial" pitchFamily="34" charset="0"/>
        <a:buChar char="»"/>
        <a:defRPr sz="2660" kern="1200">
          <a:solidFill>
            <a:schemeClr val="tx1"/>
          </a:solidFill>
          <a:latin typeface="+mn-lt"/>
          <a:ea typeface="+mn-ea"/>
          <a:cs typeface="+mn-cs"/>
        </a:defRPr>
      </a:lvl5pPr>
      <a:lvl6pPr marL="3344334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6pPr>
      <a:lvl7pPr marL="3952395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7pPr>
      <a:lvl8pPr marL="4560456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8pPr>
      <a:lvl9pPr marL="5168516" indent="-304030" algn="l" defTabSz="1216122" rtl="0" eaLnBrk="1" latinLnBrk="1" hangingPunct="1">
        <a:spcBef>
          <a:spcPct val="20000"/>
        </a:spcBef>
        <a:buFont typeface="Arial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1pPr>
      <a:lvl2pPr marL="608061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1216122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3pPr>
      <a:lvl4pPr marL="1824182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4pPr>
      <a:lvl5pPr marL="2432243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5pPr>
      <a:lvl6pPr marL="3040304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6pPr>
      <a:lvl7pPr marL="3648365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7pPr>
      <a:lvl8pPr marL="4256425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8pPr>
      <a:lvl9pPr marL="4864486" algn="l" defTabSz="1216122" rtl="0" eaLnBrk="1" latinLnBrk="1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631504" y="4644405"/>
            <a:ext cx="100776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b="1" dirty="0" smtClean="0">
                <a:solidFill>
                  <a:prstClr val="white"/>
                </a:solidFill>
                <a:latin typeface="Arial" panose="020B0604020202020204" pitchFamily="34" charset="0"/>
                <a:ea typeface="SUIT ExtraBold" pitchFamily="2" charset="-127"/>
                <a:cs typeface="Arial" panose="020B0604020202020204" pitchFamily="34" charset="0"/>
              </a:rPr>
              <a:t>Secure Boot</a:t>
            </a:r>
            <a:endParaRPr kumimoji="0" lang="en-US" altLang="ko-KR" sz="4000" b="1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SUIT ExtraBold" pitchFamily="2" charset="-127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200456" y="5801513"/>
            <a:ext cx="1690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2024.12</a:t>
            </a:r>
            <a:endParaRPr lang="ko-KR" alt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897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1384" y="323925"/>
            <a:ext cx="561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Why </a:t>
            </a:r>
            <a:r>
              <a:rPr lang="en-US" b="1" dirty="0" smtClean="0"/>
              <a:t>Secure </a:t>
            </a:r>
            <a:r>
              <a:rPr lang="en-US" b="1" dirty="0" smtClean="0"/>
              <a:t>Boot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9377" y="1044005"/>
            <a:ext cx="113052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latinLnBrk="0">
              <a:buFont typeface="Arial" panose="020B0604020202020204" pitchFamily="34" charset="0"/>
              <a:buChar char="•"/>
            </a:pPr>
            <a:r>
              <a:rPr lang="en-US" dirty="0" smtClean="0"/>
              <a:t>Protection Against Malware</a:t>
            </a:r>
          </a:p>
          <a:p>
            <a:pPr marL="342900" indent="-342900" latinLnBrk="0">
              <a:buFont typeface="Arial" panose="020B0604020202020204" pitchFamily="34" charset="0"/>
              <a:buChar char="•"/>
            </a:pPr>
            <a:r>
              <a:rPr lang="en-US" dirty="0" smtClean="0"/>
              <a:t>Defense Against Unauthorized Firmware</a:t>
            </a:r>
          </a:p>
          <a:p>
            <a:pPr marL="342900" indent="-342900" latinLnBrk="0">
              <a:buFont typeface="Arial" panose="020B0604020202020204" pitchFamily="34" charset="0"/>
              <a:buChar char="•"/>
            </a:pPr>
            <a:r>
              <a:rPr lang="en-US" dirty="0" smtClean="0"/>
              <a:t>Compliance and Certification Requirement</a:t>
            </a:r>
          </a:p>
          <a:p>
            <a:pPr marL="342900" indent="-342900" latinLnBrk="0">
              <a:buFont typeface="Arial" panose="020B0604020202020204" pitchFamily="34" charset="0"/>
              <a:buChar char="•"/>
            </a:pPr>
            <a:r>
              <a:rPr lang="en-US" dirty="0" smtClean="0"/>
              <a:t>Prevention of Firmware Attacks</a:t>
            </a:r>
            <a:endParaRPr lang="en-US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136" y="1260029"/>
            <a:ext cx="3580046" cy="3580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097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1384" y="323925"/>
            <a:ext cx="561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prpl Secure </a:t>
            </a:r>
            <a:r>
              <a:rPr lang="en-US" b="1" dirty="0" smtClean="0"/>
              <a:t>Boot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9377" y="1044005"/>
            <a:ext cx="113052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endParaRPr lang="en-US" dirty="0" smtClean="0"/>
          </a:p>
          <a:p>
            <a:pPr marL="342900" indent="-342900" latinLnBrk="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672" y="1015353"/>
            <a:ext cx="5612198" cy="5132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679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1384" y="323925"/>
            <a:ext cx="561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Secure Boot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9377" y="1044005"/>
            <a:ext cx="113052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dirty="0"/>
              <a:t>Abbreviations and Acronyms</a:t>
            </a:r>
            <a:endParaRPr lang="en-US" dirty="0" smtClean="0"/>
          </a:p>
          <a:p>
            <a:pPr marL="342900" indent="-342900" latinLnBrk="0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66206"/>
              </p:ext>
            </p:extLst>
          </p:nvPr>
        </p:nvGraphicFramePr>
        <p:xfrm>
          <a:off x="2567608" y="1786245"/>
          <a:ext cx="5937250" cy="2967482"/>
        </p:xfrm>
        <a:graphic>
          <a:graphicData uri="http://schemas.openxmlformats.org/drawingml/2006/table">
            <a:tbl>
              <a:tblPr firstRow="1" firstCol="1" bandRow="1"/>
              <a:tblGrid>
                <a:gridCol w="739775">
                  <a:extLst>
                    <a:ext uri="{9D8B030D-6E8A-4147-A177-3AD203B41FA5}">
                      <a16:colId xmlns:a16="http://schemas.microsoft.com/office/drawing/2014/main" val="3933651796"/>
                    </a:ext>
                  </a:extLst>
                </a:gridCol>
                <a:gridCol w="5197475">
                  <a:extLst>
                    <a:ext uri="{9D8B030D-6E8A-4147-A177-3AD203B41FA5}">
                      <a16:colId xmlns:a16="http://schemas.microsoft.com/office/drawing/2014/main" val="31687612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atinLnBrk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BL1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latinLnBrk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First stage bootloader, which is stored in the read-only memory (ROM) of the </a:t>
                      </a:r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SoC.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 It initialize some hardware components and load BL2 into RAM from non-volatile storage.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6547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atinLnBrk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BL2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latinLnBrk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First bootloader element that is stored in non-volatile memory. It sets up DRAM, MMU and Trustzone protection. It loads Multiple BL3-x stage images from non-volatile to memory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7004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atinLnBrk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BL3-1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latinLnBrk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The EL3 firmware, is the first component of ATF that runs on a system after power-up or reset. It is executed in “Exception Level 3” (EL3) – highest privilege level on ARM. It provides secure runtime services to non trusted OS such as Linux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3475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atinLnBrk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BL3-2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latinLnBrk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The Secure monitor, is a component of ATF that provides a trusted execution environment (TEE) for running secure applications and services.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4499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atinLnBrk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BL3-3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latinLnBrk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U-Boot, is responsible for initializing the hardware and loading the operating system or other software on an embedded system.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9843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9840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1384" y="323925"/>
            <a:ext cx="561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Secure Boot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9377" y="1044005"/>
            <a:ext cx="113052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dirty="0" smtClean="0"/>
              <a:t>Cortina Secure boot Flow</a:t>
            </a:r>
          </a:p>
          <a:p>
            <a:pPr marL="342900" indent="-342900" latinLnBrk="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3213545" y="1751891"/>
            <a:ext cx="5836920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072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1384" y="323925"/>
            <a:ext cx="561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Secure Boot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9377" y="1044005"/>
            <a:ext cx="113052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dirty="0" smtClean="0"/>
              <a:t>Secure </a:t>
            </a:r>
            <a:r>
              <a:rPr lang="en-US" dirty="0"/>
              <a:t>b</a:t>
            </a:r>
            <a:r>
              <a:rPr lang="en-US" dirty="0" smtClean="0"/>
              <a:t>oot algorithm</a:t>
            </a:r>
          </a:p>
          <a:p>
            <a:pPr marL="342900" indent="-342900" latinLnBrk="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2927648" y="1476053"/>
            <a:ext cx="6132293" cy="475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707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1384" y="323925"/>
            <a:ext cx="561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Secure Boot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9377" y="1044005"/>
            <a:ext cx="113052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dirty="0" smtClean="0"/>
              <a:t>Image partitions</a:t>
            </a:r>
          </a:p>
          <a:p>
            <a:pPr marL="342900" indent="-342900" latinLnBrk="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/>
          <p:cNvPicPr/>
          <p:nvPr/>
        </p:nvPicPr>
        <p:blipFill rotWithShape="1">
          <a:blip r:embed="rId3"/>
          <a:srcRect l="18750"/>
          <a:stretch/>
        </p:blipFill>
        <p:spPr bwMode="auto">
          <a:xfrm>
            <a:off x="2351584" y="2095710"/>
            <a:ext cx="7200802" cy="259229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96653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1384" y="323925"/>
            <a:ext cx="561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Secure Boot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9377" y="1044005"/>
            <a:ext cx="113052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dirty="0" smtClean="0"/>
              <a:t>Cortina Secure Boot components:</a:t>
            </a:r>
          </a:p>
          <a:p>
            <a:pPr marL="342900" indent="-342900" latinLnBrk="0">
              <a:buFont typeface="Arial" panose="020B0604020202020204" pitchFamily="34" charset="0"/>
              <a:buChar char="•"/>
            </a:pPr>
            <a:r>
              <a:rPr lang="en-US" dirty="0"/>
              <a:t>ATF: ARM Trusted Firmware which provides trusted secure boot and a small trusted </a:t>
            </a:r>
            <a:r>
              <a:rPr lang="en-US" dirty="0" smtClean="0"/>
              <a:t>runtime</a:t>
            </a:r>
          </a:p>
          <a:p>
            <a:pPr marL="342900" indent="-342900" latinLnBrk="0">
              <a:buFont typeface="Arial" panose="020B0604020202020204" pitchFamily="34" charset="0"/>
              <a:buChar char="•"/>
            </a:pPr>
            <a:r>
              <a:rPr lang="en-US" dirty="0" smtClean="0"/>
              <a:t>Cortina </a:t>
            </a:r>
            <a:r>
              <a:rPr lang="en-US" dirty="0" err="1" smtClean="0"/>
              <a:t>Multiboot</a:t>
            </a:r>
            <a:r>
              <a:rPr lang="en-US" dirty="0"/>
              <a:t>: responsible for managing the selection of target devices/partitions during system </a:t>
            </a:r>
            <a:r>
              <a:rPr lang="en-US" dirty="0" smtClean="0"/>
              <a:t>boot up </a:t>
            </a:r>
            <a:r>
              <a:rPr lang="en-US" dirty="0"/>
              <a:t>and fail with </a:t>
            </a:r>
            <a:r>
              <a:rPr lang="en-US" dirty="0" smtClean="0"/>
              <a:t>authentication</a:t>
            </a:r>
          </a:p>
          <a:p>
            <a:pPr marL="342900" indent="-342900" latinLnBrk="0">
              <a:buFont typeface="Arial" panose="020B0604020202020204" pitchFamily="34" charset="0"/>
              <a:buChar char="•"/>
            </a:pPr>
            <a:r>
              <a:rPr lang="en-US" dirty="0" smtClean="0"/>
              <a:t>Cortina </a:t>
            </a:r>
            <a:r>
              <a:rPr lang="en-US" dirty="0"/>
              <a:t>Dual Images: dual Linux kernel + </a:t>
            </a:r>
            <a:r>
              <a:rPr lang="en-US" dirty="0" err="1"/>
              <a:t>rootfs</a:t>
            </a:r>
            <a:r>
              <a:rPr lang="en-US" dirty="0"/>
              <a:t> partitions and partition selection </a:t>
            </a:r>
            <a:r>
              <a:rPr lang="en-US" dirty="0" smtClean="0"/>
              <a:t>mechanism</a:t>
            </a:r>
          </a:p>
          <a:p>
            <a:pPr marL="342900" indent="-342900" latinLnBrk="0">
              <a:buFont typeface="Arial" panose="020B0604020202020204" pitchFamily="34" charset="0"/>
              <a:buChar char="•"/>
            </a:pPr>
            <a:r>
              <a:rPr lang="en-US" dirty="0"/>
              <a:t>U-Boot Verified Boot: a feature allowing for the verification of a kernel and other </a:t>
            </a:r>
            <a:r>
              <a:rPr lang="en-US" dirty="0" smtClean="0"/>
              <a:t>images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618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1384" y="323925"/>
            <a:ext cx="561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ATF – ARM Trusted Firmware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9377" y="1044005"/>
            <a:ext cx="1130525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latinLnBrk="0">
              <a:buFont typeface="Arial" panose="020B0604020202020204" pitchFamily="34" charset="0"/>
              <a:buChar char="•"/>
            </a:pPr>
            <a:r>
              <a:rPr lang="en-US" dirty="0"/>
              <a:t>ARM Trusted Firmware is a reference implementation of secure world software for Arm </a:t>
            </a:r>
            <a:r>
              <a:rPr lang="en-US" dirty="0" smtClean="0"/>
              <a:t>A-Profile architectures </a:t>
            </a:r>
            <a:r>
              <a:rPr lang="en-US" dirty="0"/>
              <a:t>(Armv8-A and Armv7-A). It provides a suitable starting point for </a:t>
            </a:r>
            <a:r>
              <a:rPr lang="en-US" dirty="0" err="1"/>
              <a:t>productization</a:t>
            </a:r>
            <a:r>
              <a:rPr lang="en-US" dirty="0"/>
              <a:t> of </a:t>
            </a:r>
            <a:r>
              <a:rPr lang="en-US" dirty="0" smtClean="0"/>
              <a:t>secure world </a:t>
            </a:r>
            <a:r>
              <a:rPr lang="en-US" dirty="0"/>
              <a:t>boot and runtime </a:t>
            </a:r>
            <a:r>
              <a:rPr lang="en-US" dirty="0" smtClean="0"/>
              <a:t>firmware</a:t>
            </a:r>
          </a:p>
          <a:p>
            <a:pPr marL="342900" indent="-342900" latinLnBrk="0">
              <a:buFont typeface="Arial" panose="020B0604020202020204" pitchFamily="34" charset="0"/>
              <a:buChar char="•"/>
            </a:pPr>
            <a:r>
              <a:rPr lang="en-US" dirty="0"/>
              <a:t>The implementation of ATF spreads from CPU ROM code to bootloader binaries. Cortina SDK </a:t>
            </a:r>
            <a:r>
              <a:rPr lang="en-US" dirty="0" smtClean="0"/>
              <a:t>provides the </a:t>
            </a:r>
            <a:r>
              <a:rPr lang="en-US" dirty="0"/>
              <a:t>framework to generate firmware in accordance with ATF’s </a:t>
            </a:r>
            <a:r>
              <a:rPr lang="en-US" dirty="0" smtClean="0"/>
              <a:t>requirement</a:t>
            </a:r>
          </a:p>
          <a:p>
            <a:pPr marL="342900" indent="-342900" latinLnBrk="0">
              <a:buFont typeface="Arial" panose="020B0604020202020204" pitchFamily="34" charset="0"/>
              <a:buChar char="•"/>
            </a:pPr>
            <a:r>
              <a:rPr lang="en-US" dirty="0" smtClean="0"/>
              <a:t>Customization:</a:t>
            </a:r>
          </a:p>
          <a:p>
            <a:pPr marL="874456" lvl="1" indent="-342900" latinLnBrk="0">
              <a:buFont typeface="Arial" panose="020B0604020202020204" pitchFamily="34" charset="0"/>
              <a:buChar char="•"/>
            </a:pPr>
            <a:r>
              <a:rPr lang="en-US" dirty="0" smtClean="0"/>
              <a:t>Provide </a:t>
            </a:r>
            <a:r>
              <a:rPr lang="en-US" dirty="0"/>
              <a:t>keys </a:t>
            </a:r>
            <a:r>
              <a:rPr lang="en-US" dirty="0" smtClean="0"/>
              <a:t>to </a:t>
            </a:r>
            <a:r>
              <a:rPr lang="en-US" dirty="0"/>
              <a:t>sign/authenticate images</a:t>
            </a:r>
          </a:p>
          <a:p>
            <a:pPr marL="874456" lvl="1" indent="-342900" latinLnBrk="0">
              <a:buFont typeface="Arial" panose="020B0604020202020204" pitchFamily="34" charset="0"/>
              <a:buChar char="•"/>
            </a:pPr>
            <a:r>
              <a:rPr lang="en-US" dirty="0" smtClean="0"/>
              <a:t>Write </a:t>
            </a:r>
            <a:r>
              <a:rPr lang="en-US" dirty="0" err="1"/>
              <a:t>hash_of_ROT_public_key</a:t>
            </a:r>
            <a:r>
              <a:rPr lang="en-US" dirty="0"/>
              <a:t> to every CPU’s OTP</a:t>
            </a:r>
          </a:p>
          <a:p>
            <a:pPr marL="874456" lvl="1" indent="-342900" latinLnBrk="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614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1384" y="323925"/>
            <a:ext cx="561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ATF – ARM Trusted Firmware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9377" y="1044005"/>
            <a:ext cx="11305256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dirty="0" smtClean="0"/>
              <a:t>Generate Public Key</a:t>
            </a:r>
          </a:p>
          <a:p>
            <a:pPr marL="342900" indent="-342900" latinLnBrk="0">
              <a:buFont typeface="Arial" panose="020B0604020202020204" pitchFamily="34" charset="0"/>
              <a:buChar char="•"/>
            </a:pPr>
            <a:r>
              <a:rPr lang="en-US" dirty="0" smtClean="0"/>
              <a:t>Generate </a:t>
            </a:r>
            <a:r>
              <a:rPr lang="en-US" dirty="0"/>
              <a:t>RSA 2048 bit (PEM) private key (i.e., ROTPK</a:t>
            </a:r>
            <a:r>
              <a:rPr lang="en-US" dirty="0" smtClean="0"/>
              <a:t>):</a:t>
            </a:r>
          </a:p>
          <a:p>
            <a:pPr lvl="1" latinLnBrk="0"/>
            <a:r>
              <a:rPr lang="en-US" sz="1600" b="1" i="1" dirty="0" smtClean="0"/>
              <a:t>openssl </a:t>
            </a:r>
            <a:r>
              <a:rPr lang="en-US" sz="1600" i="1" dirty="0" err="1"/>
              <a:t>genrsa</a:t>
            </a:r>
            <a:r>
              <a:rPr lang="en-US" sz="1600" i="1" dirty="0"/>
              <a:t> </a:t>
            </a:r>
            <a:r>
              <a:rPr lang="en-US" sz="1600" b="1" i="1" dirty="0"/>
              <a:t>-</a:t>
            </a:r>
            <a:r>
              <a:rPr lang="en-US" sz="1600" i="1" dirty="0"/>
              <a:t>out </a:t>
            </a:r>
            <a:r>
              <a:rPr lang="en-US" sz="1600" b="1" i="1" dirty="0" err="1"/>
              <a:t>venus_rotprivk_rsa.pem</a:t>
            </a:r>
            <a:r>
              <a:rPr lang="en-US" sz="1600" b="1" i="1" dirty="0"/>
              <a:t> </a:t>
            </a:r>
            <a:r>
              <a:rPr lang="en-US" sz="1600" i="1" dirty="0"/>
              <a:t>2048</a:t>
            </a:r>
            <a:endParaRPr lang="en-US" sz="1600" i="1" dirty="0" smtClean="0"/>
          </a:p>
          <a:p>
            <a:pPr marL="342900" indent="-342900" latinLnBrk="0">
              <a:buFont typeface="Arial" panose="020B0604020202020204" pitchFamily="34" charset="0"/>
              <a:buChar char="•"/>
            </a:pPr>
            <a:r>
              <a:rPr lang="en-US" dirty="0"/>
              <a:t>Generate RSA 2048 bit public key (DER) from private key (PEM</a:t>
            </a:r>
            <a:r>
              <a:rPr lang="en-US" dirty="0" smtClean="0"/>
              <a:t>):</a:t>
            </a:r>
          </a:p>
          <a:p>
            <a:pPr lvl="1" latinLnBrk="0"/>
            <a:r>
              <a:rPr lang="en-US" sz="1600" b="1" i="1" dirty="0" smtClean="0"/>
              <a:t>openssl </a:t>
            </a:r>
            <a:r>
              <a:rPr lang="en-US" sz="1600" i="1" dirty="0" err="1"/>
              <a:t>rsa</a:t>
            </a:r>
            <a:r>
              <a:rPr lang="en-US" sz="1600" i="1" dirty="0"/>
              <a:t> </a:t>
            </a:r>
            <a:r>
              <a:rPr lang="en-US" sz="1600" b="1" i="1" dirty="0"/>
              <a:t>-</a:t>
            </a:r>
            <a:r>
              <a:rPr lang="en-US" sz="1600" i="1" dirty="0"/>
              <a:t>in </a:t>
            </a:r>
            <a:r>
              <a:rPr lang="en-US" sz="1600" b="1" i="1" dirty="0" err="1"/>
              <a:t>venus_rotprivk_rsa.pem</a:t>
            </a:r>
            <a:r>
              <a:rPr lang="en-US" sz="1600" b="1" i="1" dirty="0"/>
              <a:t> -</a:t>
            </a:r>
            <a:r>
              <a:rPr lang="en-US" sz="1600" i="1" dirty="0"/>
              <a:t>inform PEM </a:t>
            </a:r>
            <a:r>
              <a:rPr lang="en-US" sz="1600" b="1" i="1" dirty="0"/>
              <a:t>-</a:t>
            </a:r>
            <a:r>
              <a:rPr lang="en-US" sz="1600" i="1" dirty="0" err="1"/>
              <a:t>pubout</a:t>
            </a:r>
            <a:r>
              <a:rPr lang="en-US" sz="1600" i="1" dirty="0"/>
              <a:t> </a:t>
            </a:r>
            <a:r>
              <a:rPr lang="en-US" sz="1600" b="1" i="1" dirty="0"/>
              <a:t>-</a:t>
            </a:r>
            <a:r>
              <a:rPr lang="en-US" sz="1600" i="1" dirty="0" err="1"/>
              <a:t>outform</a:t>
            </a:r>
            <a:r>
              <a:rPr lang="en-US" sz="1600" i="1" dirty="0"/>
              <a:t> DER </a:t>
            </a:r>
            <a:r>
              <a:rPr lang="en-US" sz="1600" b="1" i="1" dirty="0"/>
              <a:t>-</a:t>
            </a:r>
            <a:r>
              <a:rPr lang="en-US" sz="1600" i="1" dirty="0"/>
              <a:t>out </a:t>
            </a:r>
            <a:r>
              <a:rPr lang="en-US" sz="1600" b="1" i="1" dirty="0" err="1"/>
              <a:t>venus_rotpk_rsa.der</a:t>
            </a:r>
            <a:endParaRPr lang="en-US" i="1" dirty="0" smtClean="0"/>
          </a:p>
          <a:p>
            <a:pPr marL="342900" indent="-342900" latinLnBrk="0">
              <a:buFont typeface="Arial" panose="020B0604020202020204" pitchFamily="34" charset="0"/>
              <a:buChar char="•"/>
            </a:pPr>
            <a:r>
              <a:rPr lang="en-US" dirty="0"/>
              <a:t>SHA256 (binary) hash of public key (DER</a:t>
            </a:r>
            <a:r>
              <a:rPr lang="en-US" dirty="0" smtClean="0"/>
              <a:t>):</a:t>
            </a:r>
            <a:endParaRPr lang="en-US" dirty="0"/>
          </a:p>
          <a:p>
            <a:pPr lvl="1" latinLnBrk="0"/>
            <a:r>
              <a:rPr lang="en-US" sz="1600" b="1" i="1" dirty="0"/>
              <a:t>openssl</a:t>
            </a:r>
            <a:r>
              <a:rPr lang="en-US" sz="1600" i="1" dirty="0"/>
              <a:t> </a:t>
            </a:r>
            <a:r>
              <a:rPr lang="en-US" sz="1600" i="1" dirty="0" err="1"/>
              <a:t>rsa</a:t>
            </a:r>
            <a:r>
              <a:rPr lang="en-US" sz="1600" i="1" dirty="0"/>
              <a:t> -</a:t>
            </a:r>
            <a:r>
              <a:rPr lang="en-US" sz="1600" i="1" dirty="0" err="1"/>
              <a:t>pubin</a:t>
            </a:r>
            <a:r>
              <a:rPr lang="en-US" sz="1600" i="1" dirty="0"/>
              <a:t> -inform DER -in </a:t>
            </a:r>
            <a:r>
              <a:rPr lang="en-US" sz="1600" b="1" i="1" dirty="0" err="1"/>
              <a:t>venus_rotpk_rsa.der</a:t>
            </a:r>
            <a:r>
              <a:rPr lang="en-US" sz="1600" i="1" dirty="0"/>
              <a:t> -</a:t>
            </a:r>
            <a:r>
              <a:rPr lang="en-US" sz="1600" i="1" dirty="0" err="1"/>
              <a:t>outform</a:t>
            </a:r>
            <a:r>
              <a:rPr lang="en-US" sz="1600" i="1" dirty="0"/>
              <a:t> der | </a:t>
            </a:r>
            <a:r>
              <a:rPr lang="en-US" sz="1600" b="1" i="1" dirty="0"/>
              <a:t>openssl</a:t>
            </a:r>
            <a:r>
              <a:rPr lang="en-US" sz="1600" i="1" dirty="0"/>
              <a:t> </a:t>
            </a:r>
            <a:r>
              <a:rPr lang="en-US" sz="1600" i="1" dirty="0" err="1"/>
              <a:t>dgst</a:t>
            </a:r>
            <a:r>
              <a:rPr lang="en-US" sz="1600" i="1" dirty="0"/>
              <a:t> -sha256 -binary </a:t>
            </a:r>
            <a:r>
              <a:rPr lang="en-US" sz="1600" i="1" dirty="0" smtClean="0"/>
              <a:t>&gt; </a:t>
            </a:r>
            <a:r>
              <a:rPr lang="en-US" sz="1600" b="1" i="1" dirty="0" smtClean="0"/>
              <a:t>venus_rotpk_rsa_sha256.bin</a:t>
            </a:r>
          </a:p>
          <a:p>
            <a:pPr marL="285750" indent="-285750" latinLnBrk="0">
              <a:buFont typeface="Arial" panose="020B0604020202020204" pitchFamily="34" charset="0"/>
              <a:buChar char="•"/>
            </a:pPr>
            <a:r>
              <a:rPr lang="en-US" dirty="0" smtClean="0"/>
              <a:t>Copy the private key </a:t>
            </a:r>
            <a:r>
              <a:rPr lang="en-US" dirty="0"/>
              <a:t>to direction: </a:t>
            </a:r>
            <a:r>
              <a:rPr lang="en-US" i="1" dirty="0" smtClean="0"/>
              <a:t>feed_kaon/targets/</a:t>
            </a:r>
            <a:r>
              <a:rPr lang="en-US" i="1" dirty="0" err="1" smtClean="0"/>
              <a:t>venus</a:t>
            </a:r>
            <a:r>
              <a:rPr lang="en-US" i="1" dirty="0" smtClean="0"/>
              <a:t>/image/keys</a:t>
            </a:r>
            <a:endParaRPr lang="en-US" sz="1600" i="1" dirty="0" smtClean="0"/>
          </a:p>
        </p:txBody>
      </p:sp>
    </p:spTree>
    <p:extLst>
      <p:ext uri="{BB962C8B-B14F-4D97-AF65-F5344CB8AC3E}">
        <p14:creationId xmlns:p14="http://schemas.microsoft.com/office/powerpoint/2010/main" val="3020146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1384" y="323925"/>
            <a:ext cx="561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ATF – ARM Trusted Firmware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9377" y="1044005"/>
            <a:ext cx="1130525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dirty="0" smtClean="0"/>
              <a:t>OTP Fields</a:t>
            </a:r>
          </a:p>
          <a:p>
            <a:pPr marL="342900" indent="-342900" latinLnBrk="0">
              <a:buFont typeface="Arial" panose="020B0604020202020204" pitchFamily="34" charset="0"/>
              <a:buChar char="•"/>
            </a:pPr>
            <a:r>
              <a:rPr lang="en-US" dirty="0"/>
              <a:t>The OTP(One-Time-Programmable Memory) </a:t>
            </a:r>
            <a:r>
              <a:rPr lang="en-US" dirty="0" smtClean="0"/>
              <a:t>act </a:t>
            </a:r>
            <a:r>
              <a:rPr lang="en-US" dirty="0"/>
              <a:t>as a storage of bootstrap encryption </a:t>
            </a:r>
            <a:r>
              <a:rPr lang="en-US" dirty="0" smtClean="0"/>
              <a:t>key, authentication </a:t>
            </a:r>
            <a:r>
              <a:rPr lang="en-US" dirty="0"/>
              <a:t>methods and boot devices prioritization</a:t>
            </a:r>
            <a:r>
              <a:rPr lang="en-US" dirty="0" smtClean="0"/>
              <a:t>.</a:t>
            </a:r>
          </a:p>
          <a:p>
            <a:pPr marL="342900" indent="-342900" latinLnBrk="0">
              <a:buFont typeface="Arial" panose="020B0604020202020204" pitchFamily="34" charset="0"/>
              <a:buChar char="•"/>
            </a:pPr>
            <a:r>
              <a:rPr lang="en-US" dirty="0" smtClean="0"/>
              <a:t>Fields in use:</a:t>
            </a:r>
          </a:p>
          <a:p>
            <a:pPr marL="874456" lvl="1" indent="-342900" latinLnBrk="0">
              <a:buFont typeface="Arial" panose="020B0604020202020204" pitchFamily="34" charset="0"/>
              <a:buChar char="•"/>
            </a:pPr>
            <a:r>
              <a:rPr lang="en-US" dirty="0" err="1" smtClean="0"/>
              <a:t>hash_of_ROT_public_key</a:t>
            </a:r>
            <a:r>
              <a:rPr lang="en-US" dirty="0" smtClean="0"/>
              <a:t>: </a:t>
            </a:r>
            <a:r>
              <a:rPr lang="en-US" dirty="0"/>
              <a:t>Start Position: bit 384, Length: 256 </a:t>
            </a:r>
            <a:r>
              <a:rPr lang="en-US" dirty="0" smtClean="0"/>
              <a:t>bits</a:t>
            </a:r>
          </a:p>
          <a:p>
            <a:pPr marL="874456" lvl="1" indent="-342900" latinLnBrk="0">
              <a:buFont typeface="Arial" panose="020B0604020202020204" pitchFamily="34" charset="0"/>
              <a:buChar char="•"/>
            </a:pPr>
            <a:r>
              <a:rPr lang="en-US" dirty="0" err="1" smtClean="0"/>
              <a:t>secure_watchdog_enable</a:t>
            </a:r>
            <a:r>
              <a:rPr lang="en-US" dirty="0" smtClean="0"/>
              <a:t>: </a:t>
            </a:r>
            <a:r>
              <a:rPr lang="en-US" dirty="0"/>
              <a:t>Start Position: bit 1119, Length: 1 </a:t>
            </a:r>
            <a:r>
              <a:rPr lang="en-US" dirty="0" smtClean="0"/>
              <a:t>bits</a:t>
            </a:r>
          </a:p>
          <a:p>
            <a:pPr marL="874456" lvl="1" indent="-342900" latinLnBrk="0">
              <a:buFont typeface="Arial" panose="020B0604020202020204" pitchFamily="34" charset="0"/>
              <a:buChar char="•"/>
            </a:pPr>
            <a:r>
              <a:rPr lang="en-US" dirty="0" err="1" smtClean="0"/>
              <a:t>forced_boot_order</a:t>
            </a:r>
            <a:r>
              <a:rPr lang="en-US" dirty="0" smtClean="0"/>
              <a:t>: </a:t>
            </a:r>
            <a:r>
              <a:rPr lang="en-US" dirty="0"/>
              <a:t>Start Position: bit 1152, Length: 32 bits</a:t>
            </a:r>
          </a:p>
        </p:txBody>
      </p:sp>
    </p:spTree>
    <p:extLst>
      <p:ext uri="{BB962C8B-B14F-4D97-AF65-F5344CB8AC3E}">
        <p14:creationId xmlns:p14="http://schemas.microsoft.com/office/powerpoint/2010/main" val="3970777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1384" y="323925"/>
            <a:ext cx="561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ATF – ARM Trusted Firmware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9377" y="1044005"/>
            <a:ext cx="11305256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dirty="0" smtClean="0"/>
              <a:t>Write Public Key to </a:t>
            </a:r>
            <a:r>
              <a:rPr lang="en-US" dirty="0"/>
              <a:t>OTP (CA8289)</a:t>
            </a:r>
            <a:endParaRPr lang="en-US" dirty="0" smtClean="0"/>
          </a:p>
          <a:p>
            <a:pPr marL="342900" indent="-342900" latinLnBrk="0">
              <a:buFont typeface="Arial" panose="020B0604020202020204" pitchFamily="34" charset="0"/>
              <a:buChar char="•"/>
            </a:pPr>
            <a:r>
              <a:rPr lang="en-US" dirty="0" smtClean="0"/>
              <a:t>Turn off OTP register protection</a:t>
            </a:r>
          </a:p>
          <a:p>
            <a:pPr lvl="1" latinLnBrk="0"/>
            <a:r>
              <a:rPr lang="en-US" i="1" dirty="0" err="1"/>
              <a:t>mw.l</a:t>
            </a:r>
            <a:r>
              <a:rPr lang="en-US" i="1" dirty="0"/>
              <a:t> 0xf43201a0 0x7bffff</a:t>
            </a:r>
            <a:endParaRPr lang="en-US" i="1" dirty="0" smtClean="0"/>
          </a:p>
          <a:p>
            <a:pPr marL="342900" indent="-342900" latinLnBrk="0">
              <a:buFont typeface="Arial" panose="020B0604020202020204" pitchFamily="34" charset="0"/>
              <a:buChar char="•"/>
            </a:pPr>
            <a:r>
              <a:rPr lang="en-US" dirty="0" smtClean="0"/>
              <a:t>Turn off local OTP protection bits</a:t>
            </a:r>
          </a:p>
          <a:p>
            <a:pPr lvl="1" latinLnBrk="0"/>
            <a:r>
              <a:rPr lang="en-US" i="1" dirty="0" err="1"/>
              <a:t>mw.l</a:t>
            </a:r>
            <a:r>
              <a:rPr lang="en-US" i="1" dirty="0"/>
              <a:t> 0xfff8080c 0x0</a:t>
            </a:r>
            <a:endParaRPr lang="en-US" i="1" dirty="0" smtClean="0"/>
          </a:p>
          <a:p>
            <a:pPr marL="342900" indent="-342900" latinLnBrk="0">
              <a:buFont typeface="Arial" panose="020B0604020202020204" pitchFamily="34" charset="0"/>
              <a:buChar char="•"/>
            </a:pPr>
            <a:r>
              <a:rPr lang="en-US" dirty="0" smtClean="0"/>
              <a:t>Write public key </a:t>
            </a:r>
            <a:r>
              <a:rPr lang="en-US" dirty="0"/>
              <a:t>to OTP (</a:t>
            </a:r>
            <a:r>
              <a:rPr lang="en-US" dirty="0" smtClean="0"/>
              <a:t>0xfff80030)</a:t>
            </a:r>
          </a:p>
          <a:p>
            <a:pPr lvl="1" latinLnBrk="0"/>
            <a:endParaRPr lang="en-US" dirty="0" smtClean="0"/>
          </a:p>
          <a:p>
            <a:pPr lvl="1" latinLnBrk="0"/>
            <a:endParaRPr lang="en-US" dirty="0"/>
          </a:p>
          <a:p>
            <a:pPr lvl="1" latinLnBrk="0"/>
            <a:endParaRPr lang="en-US" dirty="0" smtClean="0"/>
          </a:p>
          <a:p>
            <a:pPr lvl="1" latinLnBrk="0"/>
            <a:endParaRPr lang="en-US" dirty="0"/>
          </a:p>
          <a:p>
            <a:pPr lvl="1" latinLnBrk="0"/>
            <a:endParaRPr lang="en-US" dirty="0" smtClean="0"/>
          </a:p>
          <a:p>
            <a:pPr lvl="1" latinLnBrk="0"/>
            <a:endParaRPr lang="en-US" dirty="0"/>
          </a:p>
          <a:p>
            <a:pPr lvl="1" latinLnBrk="0"/>
            <a:endParaRPr lang="en-US" dirty="0" smtClean="0"/>
          </a:p>
          <a:p>
            <a:pPr marL="342900" indent="-342900" latinLnBrk="0">
              <a:buFont typeface="Arial" panose="020B0604020202020204" pitchFamily="34" charset="0"/>
              <a:buChar char="•"/>
            </a:pPr>
            <a:r>
              <a:rPr lang="en-US" dirty="0" smtClean="0"/>
              <a:t>Turn protection back on</a:t>
            </a:r>
          </a:p>
          <a:p>
            <a:pPr lvl="1" latinLnBrk="0"/>
            <a:r>
              <a:rPr lang="en-US" i="1" dirty="0" err="1"/>
              <a:t>mw.l</a:t>
            </a:r>
            <a:r>
              <a:rPr lang="en-US" i="1" dirty="0"/>
              <a:t> 0xfff8080c 0x3</a:t>
            </a:r>
            <a:endParaRPr lang="en-US" i="1" dirty="0" smtClean="0"/>
          </a:p>
          <a:p>
            <a:pPr marL="342900" indent="-342900" latinLnBrk="0">
              <a:buFont typeface="Arial" panose="020B0604020202020204" pitchFamily="34" charset="0"/>
              <a:buChar char="•"/>
            </a:pPr>
            <a:r>
              <a:rPr lang="en-US" dirty="0" smtClean="0"/>
              <a:t>Turn back on OTP register protection</a:t>
            </a:r>
          </a:p>
          <a:p>
            <a:pPr lvl="1" latinLnBrk="0"/>
            <a:r>
              <a:rPr lang="en-US" i="1" dirty="0" err="1"/>
              <a:t>mw.l</a:t>
            </a:r>
            <a:r>
              <a:rPr lang="en-US" i="1" dirty="0"/>
              <a:t> 0xf43201a0 0x3fffff</a:t>
            </a:r>
            <a:endParaRPr lang="en-US" i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440" y="2916213"/>
            <a:ext cx="7134225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854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1384" y="323925"/>
            <a:ext cx="561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Cortina Multi boot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9377" y="1044005"/>
            <a:ext cx="1130525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latinLnBrk="0">
              <a:buFont typeface="Arial" panose="020B0604020202020204" pitchFamily="34" charset="0"/>
              <a:buChar char="•"/>
            </a:pPr>
            <a:r>
              <a:rPr lang="en-US" dirty="0" smtClean="0"/>
              <a:t>Contains 2 parts:</a:t>
            </a:r>
          </a:p>
          <a:p>
            <a:pPr marL="874456" lvl="1" indent="-342900" latinLnBrk="0">
              <a:buFont typeface="Arial" panose="020B0604020202020204" pitchFamily="34" charset="0"/>
              <a:buChar char="•"/>
            </a:pPr>
            <a:r>
              <a:rPr lang="en-US" dirty="0"/>
              <a:t>OTP fields including </a:t>
            </a:r>
            <a:r>
              <a:rPr lang="en-US" dirty="0" err="1"/>
              <a:t>hash_of_ROT_public_key</a:t>
            </a:r>
            <a:r>
              <a:rPr lang="en-US" dirty="0"/>
              <a:t>, </a:t>
            </a:r>
            <a:r>
              <a:rPr lang="en-US" dirty="0" err="1"/>
              <a:t>secure_watchdog_enable</a:t>
            </a:r>
            <a:r>
              <a:rPr lang="en-US" dirty="0"/>
              <a:t> and </a:t>
            </a:r>
            <a:r>
              <a:rPr lang="en-US" dirty="0" err="1" smtClean="0"/>
              <a:t>forced_boot_order</a:t>
            </a:r>
            <a:endParaRPr lang="en-US" dirty="0" smtClean="0"/>
          </a:p>
          <a:p>
            <a:pPr marL="874456" lvl="1" indent="-342900" latinLnBrk="0">
              <a:buFont typeface="Arial" panose="020B0604020202020204" pitchFamily="34" charset="0"/>
              <a:buChar char="•"/>
            </a:pPr>
            <a:r>
              <a:rPr lang="en-US" dirty="0"/>
              <a:t>FIP(Firmware Image Package) encapsulation which contains partition attribute </a:t>
            </a:r>
            <a:r>
              <a:rPr lang="en-US" dirty="0" smtClean="0"/>
              <a:t>active/standby</a:t>
            </a:r>
          </a:p>
          <a:p>
            <a:pPr marL="342900" indent="-342900" latinLnBrk="0">
              <a:buFont typeface="Arial" panose="020B0604020202020204" pitchFamily="34" charset="0"/>
              <a:buChar char="•"/>
            </a:pPr>
            <a:r>
              <a:rPr lang="en-US" dirty="0" smtClean="0"/>
              <a:t>Responsible </a:t>
            </a:r>
            <a:r>
              <a:rPr lang="en-US" dirty="0"/>
              <a:t>for managing the selection of target partitions during system boot up. </a:t>
            </a:r>
            <a:r>
              <a:rPr lang="en-US" dirty="0" smtClean="0"/>
              <a:t>It currently </a:t>
            </a:r>
            <a:r>
              <a:rPr lang="en-US" dirty="0"/>
              <a:t>supports Cortina Firmware Image Package (FIP) partitions which are encapsulated by </a:t>
            </a:r>
            <a:r>
              <a:rPr lang="en-US" dirty="0" smtClean="0"/>
              <a:t>a standard </a:t>
            </a:r>
            <a:r>
              <a:rPr lang="en-US" dirty="0"/>
              <a:t>GUID Partition Table(GPT</a:t>
            </a:r>
            <a:r>
              <a:rPr lang="en-US" dirty="0" smtClean="0"/>
              <a:t>)</a:t>
            </a:r>
          </a:p>
          <a:p>
            <a:pPr marL="342900" indent="-342900" latinLnBrk="0">
              <a:buFont typeface="Arial" panose="020B0604020202020204" pitchFamily="34" charset="0"/>
              <a:buChar char="•"/>
            </a:pPr>
            <a:r>
              <a:rPr lang="en-US" dirty="0" smtClean="0"/>
              <a:t>Customization:</a:t>
            </a:r>
          </a:p>
          <a:p>
            <a:pPr marL="874456" lvl="1" indent="-342900" latinLnBrk="0">
              <a:buFont typeface="Arial" panose="020B0604020202020204" pitchFamily="34" charset="0"/>
              <a:buChar char="•"/>
            </a:pPr>
            <a:r>
              <a:rPr lang="en-US" dirty="0"/>
              <a:t>Write </a:t>
            </a:r>
            <a:r>
              <a:rPr lang="en-US" dirty="0" err="1"/>
              <a:t>secure_watchdog_enable</a:t>
            </a:r>
            <a:r>
              <a:rPr lang="en-US" dirty="0"/>
              <a:t> and </a:t>
            </a:r>
            <a:r>
              <a:rPr lang="en-US" dirty="0" err="1"/>
              <a:t>forced_boot_order</a:t>
            </a:r>
            <a:r>
              <a:rPr lang="en-US" dirty="0"/>
              <a:t> to every CPU’s OTP</a:t>
            </a:r>
          </a:p>
        </p:txBody>
      </p:sp>
    </p:spTree>
    <p:extLst>
      <p:ext uri="{BB962C8B-B14F-4D97-AF65-F5344CB8AC3E}">
        <p14:creationId xmlns:p14="http://schemas.microsoft.com/office/powerpoint/2010/main" val="329114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1384" y="323925"/>
            <a:ext cx="561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Cortina Multi boot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9377" y="1044005"/>
            <a:ext cx="1130525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dirty="0" err="1" smtClean="0"/>
              <a:t>Forced_boot_order</a:t>
            </a:r>
            <a:r>
              <a:rPr lang="en-US" dirty="0" smtClean="0"/>
              <a:t> fields:</a:t>
            </a:r>
          </a:p>
          <a:p>
            <a:pPr marL="342900" indent="-342900" latinLnBrk="0">
              <a:buFont typeface="Arial" panose="020B0604020202020204" pitchFamily="34" charset="0"/>
              <a:buChar char="•"/>
            </a:pPr>
            <a:r>
              <a:rPr lang="en-US" dirty="0" smtClean="0"/>
              <a:t>Primary boot device is normally selected using HW Strapping pin configuration. If primary boot device fails to boot, system attempt to boot from a different partition (same physical device or different physical device). This may be accomplished by the subsequent desired boot order – </a:t>
            </a:r>
            <a:r>
              <a:rPr lang="en-US" dirty="0" err="1" smtClean="0"/>
              <a:t>forced_boot_order</a:t>
            </a:r>
            <a:endParaRPr lang="en-US" dirty="0" smtClean="0"/>
          </a:p>
          <a:p>
            <a:pPr marL="342900" indent="-342900" latinLnBrk="0">
              <a:buFont typeface="Arial" panose="020B0604020202020204" pitchFamily="34" charset="0"/>
              <a:buChar char="•"/>
            </a:pPr>
            <a:r>
              <a:rPr lang="en-US" dirty="0" smtClean="0"/>
              <a:t>Contains 32 bit: 8 boot tuples with 4 bits in each one.</a:t>
            </a:r>
          </a:p>
          <a:p>
            <a:pPr marL="874456" lvl="1" indent="-342900" latinLnBrk="0">
              <a:buFont typeface="Arial" panose="020B0604020202020204" pitchFamily="34" charset="0"/>
              <a:buChar char="•"/>
            </a:pPr>
            <a:r>
              <a:rPr lang="en-US" dirty="0" smtClean="0"/>
              <a:t>High 3 bits specify the physical boot device ID (0x0 and 0x7 are reserved)</a:t>
            </a:r>
          </a:p>
          <a:p>
            <a:pPr marL="874456" lvl="1" indent="-342900" latinLnBrk="0">
              <a:buFont typeface="Arial" panose="020B0604020202020204" pitchFamily="34" charset="0"/>
              <a:buChar char="•"/>
            </a:pPr>
            <a:r>
              <a:rPr lang="en-US" dirty="0" smtClean="0"/>
              <a:t>Lower bit specifies status: ACTIVE/STANDBY partitions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688" y="3918520"/>
            <a:ext cx="5491500" cy="1722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711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1384" y="323925"/>
            <a:ext cx="561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Cortina Dual Images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9377" y="1044005"/>
            <a:ext cx="1130525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latinLnBrk="0">
              <a:buFont typeface="Arial" panose="020B0604020202020204" pitchFamily="34" charset="0"/>
              <a:buChar char="•"/>
            </a:pPr>
            <a:r>
              <a:rPr lang="en-US" dirty="0" smtClean="0"/>
              <a:t>Contains 4 parts:</a:t>
            </a:r>
          </a:p>
          <a:p>
            <a:pPr marL="874456" lvl="1" indent="-342900" latinLnBrk="0">
              <a:buFont typeface="Arial" panose="020B0604020202020204" pitchFamily="34" charset="0"/>
              <a:buChar char="•"/>
            </a:pPr>
            <a:r>
              <a:rPr lang="en-US" dirty="0"/>
              <a:t>U-Boot environment variables which record the status and flags of </a:t>
            </a:r>
            <a:r>
              <a:rPr lang="en-US" dirty="0" smtClean="0"/>
              <a:t>images</a:t>
            </a:r>
          </a:p>
          <a:p>
            <a:pPr marL="874456" lvl="1" indent="-342900" latinLnBrk="0">
              <a:buFont typeface="Arial" panose="020B0604020202020204" pitchFamily="34" charset="0"/>
              <a:buChar char="•"/>
            </a:pPr>
            <a:r>
              <a:rPr lang="en-US" dirty="0"/>
              <a:t>Dual images generated by Cortina </a:t>
            </a:r>
            <a:r>
              <a:rPr lang="en-US" dirty="0" smtClean="0"/>
              <a:t>SDK</a:t>
            </a:r>
          </a:p>
          <a:p>
            <a:pPr marL="874456" lvl="1" indent="-342900" latinLnBrk="0">
              <a:buFont typeface="Arial" panose="020B0604020202020204" pitchFamily="34" charset="0"/>
              <a:buChar char="•"/>
            </a:pPr>
            <a:r>
              <a:rPr lang="en-US" dirty="0"/>
              <a:t>U-Boot function for image </a:t>
            </a:r>
            <a:r>
              <a:rPr lang="en-US" dirty="0" smtClean="0"/>
              <a:t>selection</a:t>
            </a:r>
          </a:p>
          <a:p>
            <a:pPr marL="874456" lvl="1" indent="-342900" latinLnBrk="0">
              <a:buFont typeface="Arial" panose="020B0604020202020204" pitchFamily="34" charset="0"/>
              <a:buChar char="•"/>
            </a:pPr>
            <a:r>
              <a:rPr lang="nb-NO" dirty="0"/>
              <a:t>ca-upgrade for image upgrade in Linux user </a:t>
            </a:r>
            <a:r>
              <a:rPr lang="nb-NO" dirty="0" smtClean="0"/>
              <a:t>space</a:t>
            </a:r>
          </a:p>
          <a:p>
            <a:pPr marL="342900" indent="-342900" latinLnBrk="0">
              <a:buFont typeface="Arial" panose="020B0604020202020204" pitchFamily="34" charset="0"/>
              <a:buChar char="•"/>
            </a:pPr>
            <a:r>
              <a:rPr lang="nb-NO" dirty="0" smtClean="0"/>
              <a:t>Customization:</a:t>
            </a:r>
          </a:p>
          <a:p>
            <a:pPr marL="874456" lvl="1" indent="-342900" latinLnBrk="0">
              <a:buFont typeface="Arial" panose="020B0604020202020204" pitchFamily="34" charset="0"/>
              <a:buChar char="•"/>
            </a:pPr>
            <a:r>
              <a:rPr lang="en-US" dirty="0" smtClean="0"/>
              <a:t>Customized </a:t>
            </a:r>
            <a:r>
              <a:rPr lang="en-US" dirty="0"/>
              <a:t>application for setting images status and selecting </a:t>
            </a:r>
            <a:r>
              <a:rPr lang="en-US" dirty="0" err="1"/>
              <a:t>iamges</a:t>
            </a:r>
            <a:r>
              <a:rPr lang="en-US" dirty="0"/>
              <a:t> to boot according to the function result of </a:t>
            </a:r>
            <a:r>
              <a:rPr lang="en-US" dirty="0" err="1"/>
              <a:t>ca.upgrade</a:t>
            </a:r>
            <a:r>
              <a:rPr lang="en-US" dirty="0"/>
              <a:t> OMCI upgrade, U-Boot Verified Boot and all the other applications that manipulated images.</a:t>
            </a:r>
          </a:p>
        </p:txBody>
      </p:sp>
    </p:spTree>
    <p:extLst>
      <p:ext uri="{BB962C8B-B14F-4D97-AF65-F5344CB8AC3E}">
        <p14:creationId xmlns:p14="http://schemas.microsoft.com/office/powerpoint/2010/main" val="1739004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1384" y="323925"/>
            <a:ext cx="561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U-Boot Verified Boot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9377" y="1044005"/>
            <a:ext cx="113052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latinLnBrk="0">
              <a:buFont typeface="Arial" panose="020B0604020202020204" pitchFamily="34" charset="0"/>
              <a:buChar char="•"/>
            </a:pPr>
            <a:r>
              <a:rPr lang="en-US" dirty="0"/>
              <a:t>U-Boot verified boot relies on two </a:t>
            </a:r>
            <a:r>
              <a:rPr lang="en-US" dirty="0" smtClean="0"/>
              <a:t>familiar technologies </a:t>
            </a:r>
            <a:r>
              <a:rPr lang="en-US" dirty="0"/>
              <a:t>cryptographic hashing(</a:t>
            </a:r>
            <a:r>
              <a:rPr lang="en-US" dirty="0" err="1"/>
              <a:t>e.g</a:t>
            </a:r>
            <a:r>
              <a:rPr lang="en-US" dirty="0"/>
              <a:t> SHA1) and public key cryptography(</a:t>
            </a:r>
            <a:r>
              <a:rPr lang="en-US" dirty="0" err="1"/>
              <a:t>i.e</a:t>
            </a:r>
            <a:r>
              <a:rPr lang="en-US" dirty="0"/>
              <a:t> RSA</a:t>
            </a:r>
            <a:r>
              <a:rPr lang="en-US" dirty="0" smtClean="0"/>
              <a:t>)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4392" y="2196133"/>
            <a:ext cx="6375226" cy="4050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620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1384" y="323925"/>
            <a:ext cx="561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U-Boot Verified Boot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9377" y="1044005"/>
            <a:ext cx="1130525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latinLnBrk="0">
              <a:buFont typeface="Arial" panose="020B0604020202020204" pitchFamily="34" charset="0"/>
              <a:buChar char="•"/>
            </a:pPr>
            <a:r>
              <a:rPr lang="en-US" dirty="0" smtClean="0"/>
              <a:t>Customization</a:t>
            </a:r>
            <a:r>
              <a:rPr lang="en-US" dirty="0" smtClean="0"/>
              <a:t>:</a:t>
            </a:r>
          </a:p>
          <a:p>
            <a:pPr marL="874456" lvl="1" indent="-342900" latinLnBrk="0">
              <a:buFont typeface="Arial" panose="020B0604020202020204" pitchFamily="34" charset="0"/>
              <a:buChar char="•"/>
            </a:pPr>
            <a:r>
              <a:rPr lang="en-US" dirty="0" smtClean="0"/>
              <a:t>Provide </a:t>
            </a:r>
            <a:r>
              <a:rPr lang="en-US" dirty="0"/>
              <a:t>Keys to sign/authenticate images</a:t>
            </a:r>
          </a:p>
          <a:p>
            <a:pPr marL="874456" lvl="1" indent="-342900" latinLnBrk="0">
              <a:buFont typeface="Arial" panose="020B0604020202020204" pitchFamily="34" charset="0"/>
              <a:buChar char="•"/>
            </a:pPr>
            <a:r>
              <a:rPr lang="en-US" dirty="0" smtClean="0"/>
              <a:t>Modify </a:t>
            </a:r>
            <a:r>
              <a:rPr lang="en-US" dirty="0"/>
              <a:t>and uncomment the options in </a:t>
            </a:r>
            <a:r>
              <a:rPr lang="en-US" dirty="0" smtClean="0"/>
              <a:t>u-boot configuration </a:t>
            </a:r>
            <a:r>
              <a:rPr lang="en-US" dirty="0"/>
              <a:t>to enable </a:t>
            </a:r>
            <a:r>
              <a:rPr lang="en-US" dirty="0" smtClean="0"/>
              <a:t>feature</a:t>
            </a:r>
          </a:p>
          <a:p>
            <a:pPr lvl="2" latinLnBrk="0"/>
            <a:r>
              <a:rPr lang="en-US" dirty="0" smtClean="0"/>
              <a:t>feed_kaon/boot/u-boot-pg249x/src/</a:t>
            </a:r>
            <a:r>
              <a:rPr lang="en-US" dirty="0" err="1" smtClean="0"/>
              <a:t>configs</a:t>
            </a:r>
            <a:r>
              <a:rPr lang="en-US" dirty="0" smtClean="0"/>
              <a:t>/kaon-pg1892g-mmc_defconfig</a:t>
            </a:r>
            <a:endParaRPr lang="en-US" dirty="0"/>
          </a:p>
          <a:p>
            <a:pPr marL="874456" lvl="1" indent="-342900" latinLnBrk="0">
              <a:buFont typeface="Arial" panose="020B0604020202020204" pitchFamily="34" charset="0"/>
              <a:buChar char="•"/>
            </a:pPr>
            <a:r>
              <a:rPr lang="en-US" dirty="0" smtClean="0"/>
              <a:t>Modify </a:t>
            </a:r>
            <a:r>
              <a:rPr lang="en-US" dirty="0"/>
              <a:t>the U-Boot environment variable to enable this </a:t>
            </a:r>
            <a:r>
              <a:rPr lang="en-US" dirty="0" smtClean="0"/>
              <a:t>feature</a:t>
            </a:r>
          </a:p>
          <a:p>
            <a:pPr lvl="2" latinLnBrk="0"/>
            <a:r>
              <a:rPr lang="en-US" dirty="0" smtClean="0"/>
              <a:t>feed_kaon/boot/u-boot-pg249x/files/uboot-env-kaon-pg1892g-mmc.txt</a:t>
            </a:r>
          </a:p>
          <a:p>
            <a:pPr lvl="2" latinLnBrk="0"/>
            <a:r>
              <a:rPr lang="en-US" dirty="0" smtClean="0"/>
              <a:t>	</a:t>
            </a:r>
            <a:r>
              <a:rPr lang="en-US" dirty="0" err="1" smtClean="0"/>
              <a:t>i</a:t>
            </a:r>
            <a:r>
              <a:rPr lang="en-US" dirty="0" err="1" smtClean="0"/>
              <a:t>mage_type</a:t>
            </a:r>
            <a:r>
              <a:rPr lang="en-US" dirty="0" smtClean="0"/>
              <a:t>=image	</a:t>
            </a:r>
            <a:r>
              <a:rPr lang="en-US" dirty="0" smtClean="0">
                <a:sym typeface="Wingdings" panose="05000000000000000000" pitchFamily="2" charset="2"/>
              </a:rPr>
              <a:t> non-FIT image</a:t>
            </a:r>
          </a:p>
          <a:p>
            <a:pPr lvl="2" latinLnBrk="0"/>
            <a:r>
              <a:rPr lang="en-US" dirty="0" smtClean="0">
                <a:sym typeface="Wingdings" panose="05000000000000000000" pitchFamily="2" charset="2"/>
              </a:rPr>
              <a:t>	</a:t>
            </a:r>
            <a:r>
              <a:rPr lang="en-US" dirty="0" err="1" smtClean="0">
                <a:sym typeface="Wingdings" panose="05000000000000000000" pitchFamily="2" charset="2"/>
              </a:rPr>
              <a:t>image_type</a:t>
            </a:r>
            <a:r>
              <a:rPr lang="en-US" dirty="0" smtClean="0">
                <a:sym typeface="Wingdings" panose="05000000000000000000" pitchFamily="2" charset="2"/>
              </a:rPr>
              <a:t>=fit		 FIT image</a:t>
            </a:r>
            <a:endParaRPr lang="en-US" dirty="0"/>
          </a:p>
          <a:p>
            <a:pPr marL="874456" lvl="1" indent="-342900" latinLnBrk="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542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1384" y="323925"/>
            <a:ext cx="561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Secure Boot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9377" y="1044005"/>
            <a:ext cx="113052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dirty="0" smtClean="0"/>
              <a:t> </a:t>
            </a:r>
          </a:p>
          <a:p>
            <a:pPr marL="342900" indent="-342900" latinLnBrk="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097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43672" y="2628181"/>
            <a:ext cx="5400600" cy="1015663"/>
          </a:xfrm>
          <a:prstGeom prst="rect">
            <a:avLst/>
          </a:prstGeom>
          <a:noFill/>
          <a:effectLst>
            <a:innerShdw blurRad="114300">
              <a:prstClr val="black"/>
            </a:innerShdw>
            <a:reflection blurRad="12700" stA="45000" endPos="44000" dist="50800" dir="5400000" sy="-100000" algn="bl" rotWithShape="0"/>
            <a:softEdge rad="254000"/>
          </a:effectLst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THANK YOU</a:t>
            </a:r>
            <a:endParaRPr lang="en-US" sz="60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622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5_Office 테마">
  <a:themeElements>
    <a:clrScheme name="KAO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A8A3B"/>
      </a:accent1>
      <a:accent2>
        <a:srgbClr val="F7941E"/>
      </a:accent2>
      <a:accent3>
        <a:srgbClr val="F27622"/>
      </a:accent3>
      <a:accent4>
        <a:srgbClr val="E75224"/>
      </a:accent4>
      <a:accent5>
        <a:srgbClr val="C93D18"/>
      </a:accent5>
      <a:accent6>
        <a:srgbClr val="A43122"/>
      </a:accent6>
      <a:hlink>
        <a:srgbClr val="FA8A3B"/>
      </a:hlink>
      <a:folHlink>
        <a:srgbClr val="7F7F7F"/>
      </a:folHlink>
    </a:clrScheme>
    <a:fontScheme name="KAON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7_Office 테마">
  <a:themeElements>
    <a:clrScheme name="KAO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A8A3B"/>
      </a:accent1>
      <a:accent2>
        <a:srgbClr val="F7941E"/>
      </a:accent2>
      <a:accent3>
        <a:srgbClr val="F27622"/>
      </a:accent3>
      <a:accent4>
        <a:srgbClr val="E75224"/>
      </a:accent4>
      <a:accent5>
        <a:srgbClr val="C93D18"/>
      </a:accent5>
      <a:accent6>
        <a:srgbClr val="A43122"/>
      </a:accent6>
      <a:hlink>
        <a:srgbClr val="FA8A3B"/>
      </a:hlink>
      <a:folHlink>
        <a:srgbClr val="7F7F7F"/>
      </a:folHlink>
    </a:clrScheme>
    <a:fontScheme name="KAON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Office 테마">
  <a:themeElements>
    <a:clrScheme name="KAO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A8A3B"/>
      </a:accent1>
      <a:accent2>
        <a:srgbClr val="F7941E"/>
      </a:accent2>
      <a:accent3>
        <a:srgbClr val="F27622"/>
      </a:accent3>
      <a:accent4>
        <a:srgbClr val="E75224"/>
      </a:accent4>
      <a:accent5>
        <a:srgbClr val="C93D18"/>
      </a:accent5>
      <a:accent6>
        <a:srgbClr val="A43122"/>
      </a:accent6>
      <a:hlink>
        <a:srgbClr val="FA8A3B"/>
      </a:hlink>
      <a:folHlink>
        <a:srgbClr val="7F7F7F"/>
      </a:folHlink>
    </a:clrScheme>
    <a:fontScheme name="KAON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3_Office 테마">
  <a:themeElements>
    <a:clrScheme name="KAO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A8A3B"/>
      </a:accent1>
      <a:accent2>
        <a:srgbClr val="F7941E"/>
      </a:accent2>
      <a:accent3>
        <a:srgbClr val="F27622"/>
      </a:accent3>
      <a:accent4>
        <a:srgbClr val="E75224"/>
      </a:accent4>
      <a:accent5>
        <a:srgbClr val="C93D18"/>
      </a:accent5>
      <a:accent6>
        <a:srgbClr val="A43122"/>
      </a:accent6>
      <a:hlink>
        <a:srgbClr val="FA8A3B"/>
      </a:hlink>
      <a:folHlink>
        <a:srgbClr val="7F7F7F"/>
      </a:folHlink>
    </a:clrScheme>
    <a:fontScheme name="KAON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0_Office 테마">
  <a:themeElements>
    <a:clrScheme name="KAO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A8A3B"/>
      </a:accent1>
      <a:accent2>
        <a:srgbClr val="F7941E"/>
      </a:accent2>
      <a:accent3>
        <a:srgbClr val="F27622"/>
      </a:accent3>
      <a:accent4>
        <a:srgbClr val="E75224"/>
      </a:accent4>
      <a:accent5>
        <a:srgbClr val="C93D18"/>
      </a:accent5>
      <a:accent6>
        <a:srgbClr val="A43122"/>
      </a:accent6>
      <a:hlink>
        <a:srgbClr val="FA8A3B"/>
      </a:hlink>
      <a:folHlink>
        <a:srgbClr val="7F7F7F"/>
      </a:folHlink>
    </a:clrScheme>
    <a:fontScheme name="KAON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8_Office 테마">
  <a:themeElements>
    <a:clrScheme name="KAO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A8A3B"/>
      </a:accent1>
      <a:accent2>
        <a:srgbClr val="F7941E"/>
      </a:accent2>
      <a:accent3>
        <a:srgbClr val="F27622"/>
      </a:accent3>
      <a:accent4>
        <a:srgbClr val="E75224"/>
      </a:accent4>
      <a:accent5>
        <a:srgbClr val="C93D18"/>
      </a:accent5>
      <a:accent6>
        <a:srgbClr val="A43122"/>
      </a:accent6>
      <a:hlink>
        <a:srgbClr val="FA8A3B"/>
      </a:hlink>
      <a:folHlink>
        <a:srgbClr val="7F7F7F"/>
      </a:folHlink>
    </a:clrScheme>
    <a:fontScheme name="KAON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9_Office 테마">
  <a:themeElements>
    <a:clrScheme name="KAO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A8A3B"/>
      </a:accent1>
      <a:accent2>
        <a:srgbClr val="F7941E"/>
      </a:accent2>
      <a:accent3>
        <a:srgbClr val="F27622"/>
      </a:accent3>
      <a:accent4>
        <a:srgbClr val="E75224"/>
      </a:accent4>
      <a:accent5>
        <a:srgbClr val="C93D18"/>
      </a:accent5>
      <a:accent6>
        <a:srgbClr val="A43122"/>
      </a:accent6>
      <a:hlink>
        <a:srgbClr val="FA8A3B"/>
      </a:hlink>
      <a:folHlink>
        <a:srgbClr val="7F7F7F"/>
      </a:folHlink>
    </a:clrScheme>
    <a:fontScheme name="KAON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1_Office 테마">
  <a:themeElements>
    <a:clrScheme name="KAO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A8A3B"/>
      </a:accent1>
      <a:accent2>
        <a:srgbClr val="F7941E"/>
      </a:accent2>
      <a:accent3>
        <a:srgbClr val="F27622"/>
      </a:accent3>
      <a:accent4>
        <a:srgbClr val="E75224"/>
      </a:accent4>
      <a:accent5>
        <a:srgbClr val="C93D18"/>
      </a:accent5>
      <a:accent6>
        <a:srgbClr val="A43122"/>
      </a:accent6>
      <a:hlink>
        <a:srgbClr val="FA8A3B"/>
      </a:hlink>
      <a:folHlink>
        <a:srgbClr val="7F7F7F"/>
      </a:folHlink>
    </a:clrScheme>
    <a:fontScheme name="KAON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3_Office 테마">
  <a:themeElements>
    <a:clrScheme name="KAO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A8A3B"/>
      </a:accent1>
      <a:accent2>
        <a:srgbClr val="F7941E"/>
      </a:accent2>
      <a:accent3>
        <a:srgbClr val="F27622"/>
      </a:accent3>
      <a:accent4>
        <a:srgbClr val="E75224"/>
      </a:accent4>
      <a:accent5>
        <a:srgbClr val="C93D18"/>
      </a:accent5>
      <a:accent6>
        <a:srgbClr val="A43122"/>
      </a:accent6>
      <a:hlink>
        <a:srgbClr val="FA8A3B"/>
      </a:hlink>
      <a:folHlink>
        <a:srgbClr val="7F7F7F"/>
      </a:folHlink>
    </a:clrScheme>
    <a:fontScheme name="KAON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bg1">
              <a:lumMod val="85000"/>
            </a:schemeClr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11.xml><?xml version="1.0" encoding="utf-8"?>
<a:theme xmlns:a="http://schemas.openxmlformats.org/drawingml/2006/main" name="6_Office 테마">
  <a:themeElements>
    <a:clrScheme name="KAO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A8A3B"/>
      </a:accent1>
      <a:accent2>
        <a:srgbClr val="F7941E"/>
      </a:accent2>
      <a:accent3>
        <a:srgbClr val="F27622"/>
      </a:accent3>
      <a:accent4>
        <a:srgbClr val="E75224"/>
      </a:accent4>
      <a:accent5>
        <a:srgbClr val="C93D18"/>
      </a:accent5>
      <a:accent6>
        <a:srgbClr val="A43122"/>
      </a:accent6>
      <a:hlink>
        <a:srgbClr val="FA8A3B"/>
      </a:hlink>
      <a:folHlink>
        <a:srgbClr val="7F7F7F"/>
      </a:folHlink>
    </a:clrScheme>
    <a:fontScheme name="KAON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12_Office 테마">
  <a:themeElements>
    <a:clrScheme name="KAO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A8A3B"/>
      </a:accent1>
      <a:accent2>
        <a:srgbClr val="F7941E"/>
      </a:accent2>
      <a:accent3>
        <a:srgbClr val="F27622"/>
      </a:accent3>
      <a:accent4>
        <a:srgbClr val="E75224"/>
      </a:accent4>
      <a:accent5>
        <a:srgbClr val="C93D18"/>
      </a:accent5>
      <a:accent6>
        <a:srgbClr val="A43122"/>
      </a:accent6>
      <a:hlink>
        <a:srgbClr val="FA8A3B"/>
      </a:hlink>
      <a:folHlink>
        <a:srgbClr val="7F7F7F"/>
      </a:folHlink>
    </a:clrScheme>
    <a:fontScheme name="KAON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bg1">
              <a:lumMod val="85000"/>
            </a:schemeClr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1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166439</TotalTime>
  <Words>918</Words>
  <Application>Microsoft Office PowerPoint</Application>
  <PresentationFormat>Custom</PresentationFormat>
  <Paragraphs>129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12</vt:i4>
      </vt:variant>
      <vt:variant>
        <vt:lpstr>Slide Titles</vt:lpstr>
      </vt:variant>
      <vt:variant>
        <vt:i4>19</vt:i4>
      </vt:variant>
    </vt:vector>
  </HeadingPairs>
  <TitlesOfParts>
    <vt:vector size="40" baseType="lpstr">
      <vt:lpstr>Apple SD 산돌고딕 Neo 옅은체</vt:lpstr>
      <vt:lpstr>Arial Unicode MS</vt:lpstr>
      <vt:lpstr>Malgun Gothic</vt:lpstr>
      <vt:lpstr>Malgun Gothic</vt:lpstr>
      <vt:lpstr>SUIT ExtraBold</vt:lpstr>
      <vt:lpstr>Arial</vt:lpstr>
      <vt:lpstr>Calibri</vt:lpstr>
      <vt:lpstr>Times New Roman</vt:lpstr>
      <vt:lpstr>Wingdings</vt:lpstr>
      <vt:lpstr>5_Office 테마</vt:lpstr>
      <vt:lpstr>7_Office 테마</vt:lpstr>
      <vt:lpstr>디자인 사용자 지정</vt:lpstr>
      <vt:lpstr>4_Office 테마</vt:lpstr>
      <vt:lpstr>13_Office 테마</vt:lpstr>
      <vt:lpstr>10_Office 테마</vt:lpstr>
      <vt:lpstr>8_Office 테마</vt:lpstr>
      <vt:lpstr>9_Office 테마</vt:lpstr>
      <vt:lpstr>11_Office 테마</vt:lpstr>
      <vt:lpstr>3_Office 테마</vt:lpstr>
      <vt:lpstr>6_Office 테마</vt:lpstr>
      <vt:lpstr>12_Office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Teresa Lee</dc:creator>
  <cp:lastModifiedBy>Nguyen Van Hiep[Nguyen Van Hiep]</cp:lastModifiedBy>
  <cp:revision>4301</cp:revision>
  <cp:lastPrinted>2019-12-12T01:41:54Z</cp:lastPrinted>
  <dcterms:created xsi:type="dcterms:W3CDTF">2015-06-24T23:57:34Z</dcterms:created>
  <dcterms:modified xsi:type="dcterms:W3CDTF">2024-12-27T06:28:46Z</dcterms:modified>
</cp:coreProperties>
</file>